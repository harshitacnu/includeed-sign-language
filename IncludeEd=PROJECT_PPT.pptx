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67" r:id="rId14"/>
    <p:sldId id="268" r:id="rId15"/>
    <p:sldId id="269" r:id="rId1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89A9B2FF-A95C-4C90-AF76-491743C39AD2}">
          <p14:sldIdLst>
            <p14:sldId id="256"/>
            <p14:sldId id="257"/>
            <p14:sldId id="258"/>
            <p14:sldId id="259"/>
            <p14:sldId id="260"/>
            <p14:sldId id="261"/>
            <p14:sldId id="262"/>
            <p14:sldId id="263"/>
            <p14:sldId id="264"/>
            <p14:sldId id="270"/>
            <p14:sldId id="265"/>
            <p14:sldId id="266"/>
            <p14:sldId id="267"/>
            <p14:sldId id="268"/>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7EF6"/>
    <a:srgbClr val="171217"/>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9A30BF-9924-4E49-9969-A5B422CE5DB2}" v="34" dt="2025-04-23T08:39:12.125"/>
  </p1510:revLst>
</p1510:revInfo>
</file>

<file path=ppt/tableStyles.xml><?xml version="1.0" encoding="utf-8"?>
<a:tblStyleLst xmlns:a="http://schemas.openxmlformats.org/drawingml/2006/main" def="{6C489E50-544A-4D75-81BA-83F8CCB34EA4}">
  <a:tblStyle styleId="{6C489E50-544A-4D75-81BA-83F8CCB34EA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 name="Google Shape;3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 name="Google Shape;4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 name="Google Shape;5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 name="Google Shape;6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 name="Google Shape;7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 name="Google Shape;8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 name="Google Shape;20;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1" name="Google Shape;21;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7" name="Google Shape;27;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0"/>
        <p:cNvGrpSpPr/>
        <p:nvPr/>
      </p:nvGrpSpPr>
      <p:grpSpPr>
        <a:xfrm>
          <a:off x="0" y="0"/>
          <a:ext cx="0" cy="0"/>
          <a:chOff x="0" y="0"/>
          <a:chExt cx="0" cy="0"/>
        </a:xfrm>
      </p:grpSpPr>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14" name="Google Shape;14;p1"/>
          <p:cNvGrpSpPr/>
          <p:nvPr/>
        </p:nvGrpSpPr>
        <p:grpSpPr>
          <a:xfrm>
            <a:off x="0" y="0"/>
            <a:ext cx="9144000" cy="1066800"/>
            <a:chOff x="0" y="0"/>
            <a:chExt cx="9144000" cy="1066800"/>
          </a:xfrm>
        </p:grpSpPr>
        <p:sp>
          <p:nvSpPr>
            <p:cNvPr id="15" name="Google Shape;15;p1"/>
            <p:cNvSpPr/>
            <p:nvPr/>
          </p:nvSpPr>
          <p:spPr>
            <a:xfrm>
              <a:off x="0" y="0"/>
              <a:ext cx="9144000" cy="1066800"/>
            </a:xfrm>
            <a:prstGeom prst="rect">
              <a:avLst/>
            </a:prstGeom>
            <a:solidFill>
              <a:srgbClr val="FFC000"/>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 name="Google Shape;16;p1"/>
            <p:cNvSpPr/>
            <p:nvPr/>
          </p:nvSpPr>
          <p:spPr>
            <a:xfrm>
              <a:off x="0" y="0"/>
              <a:ext cx="1905000" cy="1066800"/>
            </a:xfrm>
            <a:prstGeom prst="rect">
              <a:avLst/>
            </a:prstGeom>
            <a:solidFill>
              <a:srgbClr val="5F497A"/>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 name="Google Shape;17;p1" descr="C:\Users\ecehod\Desktop\Velammal Engineering College Logo Final (1).jpg"/>
            <p:cNvPicPr preferRelativeResize="0"/>
            <p:nvPr/>
          </p:nvPicPr>
          <p:blipFill rotWithShape="1">
            <a:blip r:embed="rId5">
              <a:alphaModFix/>
            </a:blip>
            <a:srcRect/>
            <a:stretch/>
          </p:blipFill>
          <p:spPr>
            <a:xfrm>
              <a:off x="182880" y="152401"/>
              <a:ext cx="1524000" cy="762000"/>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07/s10462-012-9356-9" TargetMode="External"/><Relationship Id="rId7" Type="http://schemas.openxmlformats.org/officeDocument/2006/relationships/hyperlink" Target="https://doi.org/10.1145/1897816.1897838"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doi.org/10.1145/2070481.2070532" TargetMode="External"/><Relationship Id="rId5" Type="http://schemas.openxmlformats.org/officeDocument/2006/relationships/hyperlink" Target="https://www.ijecs.in/index.php/ijecs/article/view/2259" TargetMode="External"/><Relationship Id="rId4" Type="http://schemas.openxmlformats.org/officeDocument/2006/relationships/hyperlink" Target="https://doi.org/10.1109/TSMCC.2007.89328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5"/>
          <p:cNvSpPr txBox="1">
            <a:spLocks noGrp="1"/>
          </p:cNvSpPr>
          <p:nvPr>
            <p:ph type="ctrTitle"/>
          </p:nvPr>
        </p:nvSpPr>
        <p:spPr>
          <a:xfrm>
            <a:off x="1828800" y="-95861"/>
            <a:ext cx="7315200" cy="998416"/>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600"/>
              <a:buFont typeface="Times New Roman"/>
              <a:buNone/>
            </a:pPr>
            <a:r>
              <a:rPr lang="en-US" sz="4000" b="1" dirty="0" err="1">
                <a:latin typeface="Times New Roman"/>
                <a:ea typeface="Times New Roman"/>
                <a:cs typeface="Times New Roman"/>
                <a:sym typeface="Times New Roman"/>
              </a:rPr>
              <a:t>IncludeEd</a:t>
            </a:r>
            <a:r>
              <a:rPr lang="en-US" sz="3600" b="1" dirty="0">
                <a:latin typeface="Times New Roman"/>
                <a:ea typeface="Times New Roman"/>
                <a:cs typeface="Times New Roman"/>
                <a:sym typeface="Times New Roman"/>
              </a:rPr>
              <a:t>- </a:t>
            </a:r>
            <a:r>
              <a:rPr lang="en-US" sz="3200" b="1" dirty="0">
                <a:latin typeface="Times New Roman"/>
                <a:ea typeface="Times New Roman"/>
                <a:cs typeface="Times New Roman"/>
                <a:sym typeface="Times New Roman"/>
              </a:rPr>
              <a:t>INTEGRATING SIGN LANGUAGE AND VISUAL AIDS</a:t>
            </a:r>
            <a:endParaRPr sz="3200" b="1" dirty="0">
              <a:latin typeface="Times New Roman"/>
              <a:ea typeface="Times New Roman"/>
              <a:cs typeface="Times New Roman"/>
              <a:sym typeface="Times New Roman"/>
            </a:endParaRPr>
          </a:p>
        </p:txBody>
      </p:sp>
      <p:sp>
        <p:nvSpPr>
          <p:cNvPr id="39" name="Google Shape;39;p5"/>
          <p:cNvSpPr txBox="1">
            <a:spLocks noGrp="1"/>
          </p:cNvSpPr>
          <p:nvPr>
            <p:ph type="subTitle" idx="1"/>
          </p:nvPr>
        </p:nvSpPr>
        <p:spPr>
          <a:xfrm>
            <a:off x="0" y="1447800"/>
            <a:ext cx="9144000" cy="49530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3200"/>
              <a:buNone/>
            </a:pPr>
            <a:r>
              <a:rPr lang="en-US" b="1" u="sng" dirty="0">
                <a:solidFill>
                  <a:schemeClr val="dk1"/>
                </a:solidFill>
                <a:latin typeface="Times New Roman"/>
                <a:ea typeface="Times New Roman"/>
                <a:cs typeface="Times New Roman"/>
                <a:sym typeface="Times New Roman"/>
              </a:rPr>
              <a:t>BATCH MEMBERS </a:t>
            </a:r>
            <a:endParaRPr dirty="0"/>
          </a:p>
          <a:p>
            <a:pPr marL="0" lvl="0" indent="0" algn="ctr" rtl="0">
              <a:lnSpc>
                <a:spcPct val="100000"/>
              </a:lnSpc>
              <a:spcBef>
                <a:spcPts val="560"/>
              </a:spcBef>
              <a:spcAft>
                <a:spcPts val="0"/>
              </a:spcAft>
              <a:buClr>
                <a:schemeClr val="dk1"/>
              </a:buClr>
              <a:buSzPts val="2800"/>
              <a:buNone/>
            </a:pPr>
            <a:r>
              <a:rPr lang="en-US" sz="2800" dirty="0">
                <a:solidFill>
                  <a:schemeClr val="dk1"/>
                </a:solidFill>
                <a:latin typeface="Times New Roman"/>
                <a:ea typeface="Times New Roman"/>
                <a:cs typeface="Times New Roman"/>
                <a:sym typeface="Times New Roman"/>
              </a:rPr>
              <a:t>                          </a:t>
            </a:r>
            <a:r>
              <a:rPr lang="en-US" sz="2400" dirty="0">
                <a:solidFill>
                  <a:schemeClr val="dk1"/>
                </a:solidFill>
                <a:latin typeface="Times New Roman"/>
                <a:ea typeface="Times New Roman"/>
                <a:cs typeface="Times New Roman"/>
                <a:sym typeface="Times New Roman"/>
              </a:rPr>
              <a:t>1)Akshaya S     (113221031010)                                </a:t>
            </a:r>
            <a:endParaRPr sz="2400" dirty="0">
              <a:solidFill>
                <a:schemeClr val="dk1"/>
              </a:solidFill>
              <a:latin typeface="Times New Roman"/>
              <a:ea typeface="Times New Roman"/>
              <a:cs typeface="Times New Roman"/>
              <a:sym typeface="Times New Roman"/>
            </a:endParaRPr>
          </a:p>
          <a:p>
            <a:pPr marL="0" lvl="0" indent="0" algn="just" rtl="0">
              <a:lnSpc>
                <a:spcPct val="100000"/>
              </a:lnSpc>
              <a:spcBef>
                <a:spcPts val="560"/>
              </a:spcBef>
              <a:spcAft>
                <a:spcPts val="0"/>
              </a:spcAft>
              <a:buClr>
                <a:schemeClr val="dk1"/>
              </a:buClr>
              <a:buSzPts val="2400"/>
              <a:buNone/>
            </a:pPr>
            <a:r>
              <a:rPr lang="en-US" sz="2400" dirty="0">
                <a:solidFill>
                  <a:schemeClr val="dk1"/>
                </a:solidFill>
                <a:latin typeface="Times New Roman"/>
                <a:ea typeface="Times New Roman"/>
                <a:cs typeface="Times New Roman"/>
                <a:sym typeface="Times New Roman"/>
              </a:rPr>
              <a:t>                                2)Harshita S      (113221031058)</a:t>
            </a:r>
            <a:endParaRPr dirty="0"/>
          </a:p>
          <a:p>
            <a:pPr marL="0" lvl="0" indent="0" algn="l" rtl="0">
              <a:lnSpc>
                <a:spcPct val="100000"/>
              </a:lnSpc>
              <a:spcBef>
                <a:spcPts val="560"/>
              </a:spcBef>
              <a:spcAft>
                <a:spcPts val="0"/>
              </a:spcAft>
              <a:buClr>
                <a:schemeClr val="dk1"/>
              </a:buClr>
              <a:buSzPts val="2400"/>
              <a:buNone/>
            </a:pPr>
            <a:r>
              <a:rPr lang="en-US" sz="2400" dirty="0">
                <a:solidFill>
                  <a:schemeClr val="dk1"/>
                </a:solidFill>
                <a:latin typeface="Times New Roman"/>
                <a:ea typeface="Times New Roman"/>
                <a:cs typeface="Times New Roman"/>
                <a:sym typeface="Times New Roman"/>
              </a:rPr>
              <a:t>                                3)Yuvashree R  (113221031170)</a:t>
            </a:r>
            <a:endParaRPr sz="2400" dirty="0">
              <a:solidFill>
                <a:schemeClr val="dk1"/>
              </a:solidFill>
              <a:latin typeface="Times New Roman"/>
              <a:ea typeface="Times New Roman"/>
              <a:cs typeface="Times New Roman"/>
              <a:sym typeface="Times New Roman"/>
            </a:endParaRPr>
          </a:p>
          <a:p>
            <a:pPr marL="0" lvl="0" indent="0" algn="ctr" rtl="0">
              <a:lnSpc>
                <a:spcPct val="100000"/>
              </a:lnSpc>
              <a:spcBef>
                <a:spcPts val="640"/>
              </a:spcBef>
              <a:spcAft>
                <a:spcPts val="0"/>
              </a:spcAft>
              <a:buClr>
                <a:schemeClr val="dk1"/>
              </a:buClr>
              <a:buSzPts val="2800"/>
              <a:buNone/>
            </a:pPr>
            <a:r>
              <a:rPr lang="en-US" sz="2800" dirty="0">
                <a:solidFill>
                  <a:schemeClr val="dk1"/>
                </a:solidFill>
                <a:latin typeface="Times New Roman"/>
                <a:ea typeface="Times New Roman"/>
                <a:cs typeface="Times New Roman"/>
                <a:sym typeface="Times New Roman"/>
              </a:rPr>
              <a:t> </a:t>
            </a:r>
            <a:r>
              <a:rPr lang="en-US" b="1" u="sng" dirty="0">
                <a:solidFill>
                  <a:schemeClr val="dk1"/>
                </a:solidFill>
                <a:latin typeface="Times New Roman"/>
                <a:ea typeface="Times New Roman"/>
                <a:cs typeface="Times New Roman"/>
                <a:sym typeface="Times New Roman"/>
              </a:rPr>
              <a:t>INTERNAL GUIDE </a:t>
            </a:r>
            <a:r>
              <a:rPr lang="en-US" b="1" dirty="0">
                <a:solidFill>
                  <a:schemeClr val="dk1"/>
                </a:solidFill>
                <a:latin typeface="Times New Roman"/>
                <a:ea typeface="Times New Roman"/>
                <a:cs typeface="Times New Roman"/>
                <a:sym typeface="Times New Roman"/>
              </a:rPr>
              <a:t> </a:t>
            </a:r>
            <a:r>
              <a:rPr lang="en-US" sz="2800" b="1" dirty="0">
                <a:solidFill>
                  <a:schemeClr val="dk1"/>
                </a:solidFill>
                <a:latin typeface="Times New Roman"/>
                <a:ea typeface="Times New Roman"/>
                <a:cs typeface="Times New Roman"/>
                <a:sym typeface="Times New Roman"/>
              </a:rPr>
              <a:t> </a:t>
            </a:r>
            <a:endParaRPr sz="2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chemeClr val="dk1"/>
              </a:buClr>
              <a:buSzPts val="2400"/>
              <a:buNone/>
            </a:pPr>
            <a:r>
              <a:rPr lang="en-US" sz="2400" dirty="0" err="1">
                <a:solidFill>
                  <a:srgbClr val="000000"/>
                </a:solidFill>
                <a:latin typeface="Times New Roman"/>
                <a:ea typeface="Times New Roman"/>
                <a:cs typeface="Times New Roman"/>
                <a:sym typeface="Times New Roman"/>
              </a:rPr>
              <a:t>Dr.M.Usha</a:t>
            </a:r>
            <a:r>
              <a:rPr lang="en-US" sz="2400" dirty="0">
                <a:solidFill>
                  <a:srgbClr val="000000"/>
                </a:solidFill>
                <a:latin typeface="Times New Roman"/>
                <a:ea typeface="Times New Roman"/>
                <a:cs typeface="Times New Roman"/>
                <a:sym typeface="Times New Roman"/>
              </a:rPr>
              <a:t>, Associate Professor,</a:t>
            </a:r>
          </a:p>
          <a:p>
            <a:pPr marL="0" lvl="0" indent="0" algn="ctr" rtl="0">
              <a:lnSpc>
                <a:spcPct val="100000"/>
              </a:lnSpc>
              <a:spcBef>
                <a:spcPts val="480"/>
              </a:spcBef>
              <a:spcAft>
                <a:spcPts val="0"/>
              </a:spcAft>
              <a:buClr>
                <a:schemeClr val="dk1"/>
              </a:buClr>
              <a:buSzPts val="2400"/>
              <a:buNone/>
            </a:pPr>
            <a:r>
              <a:rPr lang="en-US" sz="2400" dirty="0">
                <a:solidFill>
                  <a:srgbClr val="000000"/>
                </a:solidFill>
                <a:latin typeface="Times New Roman"/>
                <a:ea typeface="Times New Roman"/>
                <a:cs typeface="Times New Roman"/>
                <a:sym typeface="Times New Roman"/>
              </a:rPr>
              <a:t> Department Of Computer Science Engineering</a:t>
            </a:r>
            <a:endParaRPr sz="2400" dirty="0">
              <a:solidFill>
                <a:schemeClr val="dk1"/>
              </a:solidFill>
              <a:latin typeface="Times New Roman"/>
              <a:ea typeface="Times New Roman"/>
              <a:cs typeface="Times New Roman"/>
              <a:sym typeface="Times New Roman"/>
            </a:endParaRPr>
          </a:p>
        </p:txBody>
      </p:sp>
      <p:sp>
        <p:nvSpPr>
          <p:cNvPr id="40" name="Google Shape;4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41" name="Google Shape;41;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42" name="Google Shape;42;p5"/>
          <p:cNvSpPr txBox="1">
            <a:spLocks noGrp="1"/>
          </p:cNvSpPr>
          <p:nvPr>
            <p:ph type="ftr" idx="11"/>
          </p:nvPr>
        </p:nvSpPr>
        <p:spPr>
          <a:xfrm>
            <a:off x="3003755" y="6356349"/>
            <a:ext cx="313649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Computer Science and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Abstract</a:t>
            </a:r>
            <a:endParaRPr dirty="0"/>
          </a:p>
        </p:txBody>
      </p:sp>
      <p:sp>
        <p:nvSpPr>
          <p:cNvPr id="48" name="Google Shape;48;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6875"/>
          </a:bodyPr>
          <a:lstStyle/>
          <a:p>
            <a:pPr marL="0" lvl="0" indent="0" algn="just" rtl="0">
              <a:lnSpc>
                <a:spcPct val="110000"/>
              </a:lnSpc>
              <a:spcBef>
                <a:spcPts val="0"/>
              </a:spcBef>
              <a:spcAft>
                <a:spcPts val="0"/>
              </a:spcAft>
              <a:buClr>
                <a:schemeClr val="dk1"/>
              </a:buClr>
              <a:buSzPct val="100000"/>
              <a:buNone/>
            </a:pPr>
            <a:r>
              <a:rPr lang="en-US"/>
              <a:t>	</a:t>
            </a:r>
            <a:endParaRPr/>
          </a:p>
        </p:txBody>
      </p:sp>
      <p:sp>
        <p:nvSpPr>
          <p:cNvPr id="49" name="Google Shape;49;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50" name="Google Shape;50;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Computer Science and Engineering</a:t>
            </a:r>
            <a:endParaRPr dirty="0"/>
          </a:p>
        </p:txBody>
      </p:sp>
      <p:sp>
        <p:nvSpPr>
          <p:cNvPr id="51" name="Google Shape;51;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graphicFrame>
        <p:nvGraphicFramePr>
          <p:cNvPr id="52" name="Google Shape;52;p6"/>
          <p:cNvGraphicFramePr/>
          <p:nvPr>
            <p:extLst>
              <p:ext uri="{D42A27DB-BD31-4B8C-83A1-F6EECF244321}">
                <p14:modId xmlns:p14="http://schemas.microsoft.com/office/powerpoint/2010/main" val="3578890534"/>
              </p:ext>
            </p:extLst>
          </p:nvPr>
        </p:nvGraphicFramePr>
        <p:xfrm>
          <a:off x="324465" y="843937"/>
          <a:ext cx="8372167" cy="5397320"/>
        </p:xfrm>
        <a:graphic>
          <a:graphicData uri="http://schemas.openxmlformats.org/drawingml/2006/table">
            <a:tbl>
              <a:tblPr firstRow="1" bandRow="1">
                <a:tableStyleId>{2D5ABB26-0587-4C30-8999-92F81FD0307C}</a:tableStyleId>
              </a:tblPr>
              <a:tblGrid>
                <a:gridCol w="8372167">
                  <a:extLst>
                    <a:ext uri="{9D8B030D-6E8A-4147-A177-3AD203B41FA5}">
                      <a16:colId xmlns:a16="http://schemas.microsoft.com/office/drawing/2014/main" val="20000"/>
                    </a:ext>
                  </a:extLst>
                </a:gridCol>
              </a:tblGrid>
              <a:tr h="5282226">
                <a:tc>
                  <a:txBody>
                    <a:bodyPr/>
                    <a:lstStyle/>
                    <a:p>
                      <a:pPr marL="0" marR="0" lvl="0" indent="0" algn="just" rtl="0">
                        <a:lnSpc>
                          <a:spcPct val="100000"/>
                        </a:lnSpc>
                        <a:spcBef>
                          <a:spcPts val="0"/>
                        </a:spcBef>
                        <a:spcAft>
                          <a:spcPts val="0"/>
                        </a:spcAft>
                        <a:buClr>
                          <a:schemeClr val="dk1"/>
                        </a:buClr>
                        <a:buSzPts val="1800"/>
                        <a:buFont typeface="Calibri"/>
                        <a:buNone/>
                      </a:pPr>
                      <a:endParaRPr sz="1800" u="none" strike="noStrike" cap="none" dirty="0">
                        <a:sym typeface="Times New Roman"/>
                      </a:endParaRPr>
                    </a:p>
                    <a:p>
                      <a:pPr marL="457200" lvl="0" indent="-342900" algn="just" rtl="0">
                        <a:lnSpc>
                          <a:spcPct val="115000"/>
                        </a:lnSpc>
                        <a:spcBef>
                          <a:spcPts val="1200"/>
                        </a:spcBef>
                        <a:spcAft>
                          <a:spcPts val="0"/>
                        </a:spcAft>
                        <a:buClr>
                          <a:schemeClr val="dk1"/>
                        </a:buClr>
                        <a:buSzPts val="1800"/>
                        <a:buFont typeface="Noto Sans Symbols"/>
                        <a:buChar char="✔"/>
                      </a:pPr>
                      <a:r>
                        <a:rPr lang="en-US" sz="2000" dirty="0">
                          <a:latin typeface="Times New Roman" panose="02020603050405020304" pitchFamily="18" charset="0"/>
                          <a:cs typeface="Times New Roman" panose="02020603050405020304" pitchFamily="18" charset="0"/>
                          <a:sym typeface="Times New Roman"/>
                        </a:rPr>
                        <a:t>Personal decisions, and access to inclusive education are not new issues. But, unfortunately, these are some of the issues that have not yet been managed in a way that could be eradicated even in recent times.</a:t>
                      </a:r>
                      <a:endParaRPr sz="2000" dirty="0">
                        <a:latin typeface="Times New Roman" panose="02020603050405020304" pitchFamily="18" charset="0"/>
                        <a:cs typeface="Times New Roman" panose="02020603050405020304" pitchFamily="18" charset="0"/>
                        <a:sym typeface="Times New Roman"/>
                      </a:endParaRPr>
                    </a:p>
                    <a:p>
                      <a:pPr marL="457200" lvl="0" indent="-342900" algn="just" rtl="0">
                        <a:lnSpc>
                          <a:spcPct val="115000"/>
                        </a:lnSpc>
                        <a:spcBef>
                          <a:spcPts val="0"/>
                        </a:spcBef>
                        <a:spcAft>
                          <a:spcPts val="0"/>
                        </a:spcAft>
                        <a:buClr>
                          <a:schemeClr val="dk1"/>
                        </a:buClr>
                        <a:buSzPts val="1800"/>
                        <a:buFont typeface="Noto Sans Symbols"/>
                        <a:buChar char="✔"/>
                      </a:pPr>
                      <a:r>
                        <a:rPr lang="en-US" sz="2000" dirty="0">
                          <a:latin typeface="Times New Roman" panose="02020603050405020304" pitchFamily="18" charset="0"/>
                          <a:cs typeface="Times New Roman" panose="02020603050405020304" pitchFamily="18" charset="0"/>
                          <a:sym typeface="Times New Roman"/>
                        </a:rPr>
                        <a:t>Inclusive communication must be ensured for people with hearing and speech impairments. Rejecting fundamental rights to communication, freedom to express themselves, </a:t>
                      </a:r>
                      <a:endParaRPr sz="2000" dirty="0">
                        <a:latin typeface="Times New Roman" panose="02020603050405020304" pitchFamily="18" charset="0"/>
                        <a:cs typeface="Times New Roman" panose="02020603050405020304" pitchFamily="18" charset="0"/>
                        <a:sym typeface="Times New Roman"/>
                      </a:endParaRPr>
                    </a:p>
                    <a:p>
                      <a:pPr marL="457200" lvl="0" indent="-342900" algn="just" rtl="0">
                        <a:lnSpc>
                          <a:spcPct val="115000"/>
                        </a:lnSpc>
                        <a:spcBef>
                          <a:spcPts val="0"/>
                        </a:spcBef>
                        <a:spcAft>
                          <a:spcPts val="0"/>
                        </a:spcAft>
                        <a:buClr>
                          <a:schemeClr val="dk1"/>
                        </a:buClr>
                        <a:buSzPts val="1800"/>
                        <a:buFont typeface="Noto Sans Symbols"/>
                        <a:buChar char="✔"/>
                      </a:pPr>
                      <a:r>
                        <a:rPr lang="en-US" sz="2000" dirty="0" err="1">
                          <a:latin typeface="Times New Roman" panose="02020603050405020304" pitchFamily="18" charset="0"/>
                          <a:cs typeface="Times New Roman" panose="02020603050405020304" pitchFamily="18" charset="0"/>
                          <a:sym typeface="Times New Roman"/>
                        </a:rPr>
                        <a:t>IncludeEd</a:t>
                      </a:r>
                      <a:r>
                        <a:rPr lang="en-US" sz="2000" dirty="0">
                          <a:latin typeface="Times New Roman" panose="02020603050405020304" pitchFamily="18" charset="0"/>
                          <a:cs typeface="Times New Roman" panose="02020603050405020304" pitchFamily="18" charset="0"/>
                          <a:sym typeface="Times New Roman"/>
                        </a:rPr>
                        <a:t> project contains many features including sign language detection, visual captioning support, text-to-sign conversion, and gesture-based interaction (which will be very helpful in both online and offline modes).</a:t>
                      </a:r>
                      <a:endParaRPr sz="2000" dirty="0">
                        <a:latin typeface="Times New Roman" panose="02020603050405020304" pitchFamily="18" charset="0"/>
                        <a:cs typeface="Times New Roman" panose="02020603050405020304" pitchFamily="18" charset="0"/>
                        <a:sym typeface="Times New Roman"/>
                      </a:endParaRPr>
                    </a:p>
                    <a:p>
                      <a:pPr marL="457200" lvl="0" indent="-342900" algn="just" rtl="0">
                        <a:lnSpc>
                          <a:spcPct val="115000"/>
                        </a:lnSpc>
                        <a:spcBef>
                          <a:spcPts val="0"/>
                        </a:spcBef>
                        <a:spcAft>
                          <a:spcPts val="0"/>
                        </a:spcAft>
                        <a:buClr>
                          <a:schemeClr val="dk1"/>
                        </a:buClr>
                        <a:buSzPts val="1800"/>
                        <a:buFont typeface="Noto Sans Symbols"/>
                        <a:buChar char="✔"/>
                      </a:pPr>
                      <a:r>
                        <a:rPr lang="en-US" sz="2000" dirty="0">
                          <a:latin typeface="Times New Roman" panose="02020603050405020304" pitchFamily="18" charset="0"/>
                          <a:cs typeface="Times New Roman" panose="02020603050405020304" pitchFamily="18" charset="0"/>
                          <a:sym typeface="Times New Roman"/>
                        </a:rPr>
                        <a:t>Visual cues are shared with up to a maximum of 4 devices and a visual alert will be sent to the first registered screen. This app provides a clean and simple UI which makes </a:t>
                      </a:r>
                      <a:r>
                        <a:rPr lang="en-US" sz="2000" dirty="0" err="1">
                          <a:latin typeface="Times New Roman" panose="02020603050405020304" pitchFamily="18" charset="0"/>
                          <a:cs typeface="Times New Roman" panose="02020603050405020304" pitchFamily="18" charset="0"/>
                          <a:sym typeface="Times New Roman"/>
                        </a:rPr>
                        <a:t>IncludeEd</a:t>
                      </a:r>
                      <a:r>
                        <a:rPr lang="en-US" sz="2000" dirty="0">
                          <a:latin typeface="Times New Roman" panose="02020603050405020304" pitchFamily="18" charset="0"/>
                          <a:cs typeface="Times New Roman" panose="02020603050405020304" pitchFamily="18" charset="0"/>
                          <a:sym typeface="Times New Roman"/>
                        </a:rPr>
                        <a:t> more flexible. The translation and visual display are powered using open-source APIs and custom-trained models.</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609600" y="152400"/>
            <a:ext cx="82296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Problem Statement</a:t>
            </a:r>
            <a:endParaRPr b="1">
              <a:latin typeface="Times New Roman"/>
              <a:ea typeface="Times New Roman"/>
              <a:cs typeface="Times New Roman"/>
              <a:sym typeface="Times New Roman"/>
            </a:endParaRPr>
          </a:p>
        </p:txBody>
      </p:sp>
      <p:sp>
        <p:nvSpPr>
          <p:cNvPr id="58" name="Google Shape;58;p7"/>
          <p:cNvSpPr txBox="1">
            <a:spLocks noGrp="1"/>
          </p:cNvSpPr>
          <p:nvPr>
            <p:ph type="body" idx="1"/>
          </p:nvPr>
        </p:nvSpPr>
        <p:spPr>
          <a:xfrm>
            <a:off x="329381" y="1104358"/>
            <a:ext cx="8107800" cy="48066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rgbClr val="D1D5DB"/>
              </a:buClr>
              <a:buSzPts val="1200"/>
              <a:buChar char="•"/>
            </a:pPr>
            <a:r>
              <a:rPr lang="en-US" sz="1200" dirty="0">
                <a:solidFill>
                  <a:srgbClr val="D1D5DB"/>
                </a:solidFill>
              </a:rPr>
              <a:t>.</a:t>
            </a:r>
            <a:endParaRPr sz="2800" dirty="0"/>
          </a:p>
          <a:p>
            <a:pPr marL="457200" lvl="0" indent="-342900" algn="just" rtl="0">
              <a:spcBef>
                <a:spcPts val="360"/>
              </a:spcBef>
              <a:spcAft>
                <a:spcPts val="0"/>
              </a:spcAft>
              <a:buSzPts val="1800"/>
              <a:buFont typeface="Noto Sans Symbols"/>
              <a:buChar char="✔"/>
            </a:pPr>
            <a:r>
              <a:rPr lang="en-US" sz="2000" dirty="0">
                <a:latin typeface="Times New Roman"/>
                <a:ea typeface="Times New Roman"/>
                <a:cs typeface="Times New Roman"/>
                <a:sym typeface="Times New Roman"/>
              </a:rPr>
              <a:t>The inclusion of individuals with hearing and speech impairments remains a pressing concern globally, as barriers in communication, expression, and accessibility persist in various forms.</a:t>
            </a:r>
            <a:endParaRPr sz="2000" dirty="0">
              <a:latin typeface="Times New Roman"/>
              <a:ea typeface="Times New Roman"/>
              <a:cs typeface="Times New Roman"/>
              <a:sym typeface="Times New Roman"/>
            </a:endParaRPr>
          </a:p>
          <a:p>
            <a:pPr marL="457200" lvl="0" indent="-342900" algn="just" rtl="0">
              <a:spcBef>
                <a:spcPts val="360"/>
              </a:spcBef>
              <a:spcAft>
                <a:spcPts val="0"/>
              </a:spcAft>
              <a:buSzPts val="1800"/>
              <a:buFont typeface="Noto Sans Symbols"/>
              <a:buChar char="✔"/>
            </a:pPr>
            <a:r>
              <a:rPr lang="en-US" sz="2000" dirty="0">
                <a:latin typeface="Times New Roman"/>
                <a:ea typeface="Times New Roman"/>
                <a:cs typeface="Times New Roman"/>
                <a:sym typeface="Times New Roman"/>
              </a:rPr>
              <a:t>The absence of a unified platform for users to access or contribute sign language resources further impedes collective understanding and inclusive communication.</a:t>
            </a:r>
            <a:endParaRPr sz="2000" dirty="0">
              <a:latin typeface="Times New Roman"/>
              <a:ea typeface="Times New Roman"/>
              <a:cs typeface="Times New Roman"/>
              <a:sym typeface="Times New Roman"/>
            </a:endParaRPr>
          </a:p>
          <a:p>
            <a:pPr marL="457200" lvl="0" indent="-342900" algn="just" rtl="0">
              <a:spcBef>
                <a:spcPts val="360"/>
              </a:spcBef>
              <a:spcAft>
                <a:spcPts val="0"/>
              </a:spcAft>
              <a:buSzPts val="1800"/>
              <a:buFont typeface="Noto Sans Symbols"/>
              <a:buChar char="✔"/>
            </a:pPr>
            <a:r>
              <a:rPr lang="en-US" sz="2000" dirty="0">
                <a:latin typeface="Times New Roman"/>
                <a:ea typeface="Times New Roman"/>
                <a:cs typeface="Times New Roman"/>
                <a:sym typeface="Times New Roman"/>
              </a:rPr>
              <a:t>Integration with mainstream media and educational content remains a challenge, with current applications lacking seamless translation and adaptive learning support.</a:t>
            </a:r>
            <a:endParaRPr sz="2000" dirty="0">
              <a:latin typeface="Times New Roman"/>
              <a:ea typeface="Times New Roman"/>
              <a:cs typeface="Times New Roman"/>
              <a:sym typeface="Times New Roman"/>
            </a:endParaRPr>
          </a:p>
          <a:p>
            <a:pPr marL="457200" lvl="0" indent="-342900" algn="just" rtl="0">
              <a:spcBef>
                <a:spcPts val="360"/>
              </a:spcBef>
              <a:spcAft>
                <a:spcPts val="0"/>
              </a:spcAft>
              <a:buSzPts val="1800"/>
              <a:buFont typeface="Noto Sans Symbols"/>
              <a:buChar char="✔"/>
            </a:pPr>
            <a:r>
              <a:rPr lang="en-US" sz="2000" dirty="0">
                <a:latin typeface="Times New Roman"/>
                <a:ea typeface="Times New Roman"/>
                <a:cs typeface="Times New Roman"/>
                <a:sym typeface="Times New Roman"/>
              </a:rPr>
              <a:t>Additionally, intuitive and fast communication aids are essential to prevent frustration and exclusion in daily interactions.</a:t>
            </a:r>
            <a:endParaRPr sz="2000" dirty="0">
              <a:latin typeface="Times New Roman"/>
              <a:ea typeface="Times New Roman"/>
              <a:cs typeface="Times New Roman"/>
              <a:sym typeface="Times New Roman"/>
            </a:endParaRPr>
          </a:p>
          <a:p>
            <a:pPr algn="just">
              <a:buFont typeface="Noto Sans Symbols"/>
              <a:buChar char="✔"/>
            </a:pPr>
            <a:r>
              <a:rPr lang="en-US" sz="2000" dirty="0">
                <a:latin typeface="Times New Roman"/>
                <a:cs typeface="Times New Roman"/>
                <a:sym typeface="Times New Roman"/>
              </a:rPr>
              <a:t>Lastly, a notable gap exists in public awareness and training, as many people may not be familiar with sign language basics, emphasizing the need for user-friendly tools and learning modules</a:t>
            </a:r>
            <a:r>
              <a:rPr lang="en-US" sz="1800" dirty="0">
                <a:latin typeface="Times New Roman"/>
                <a:cs typeface="Times New Roman"/>
                <a:sym typeface="Times New Roman"/>
              </a:rPr>
              <a:t>.</a:t>
            </a:r>
            <a:endParaRPr sz="1800" dirty="0">
              <a:latin typeface="Times New Roman"/>
              <a:cs typeface="Times New Roman"/>
              <a:sym typeface="Times New Roman"/>
            </a:endParaRPr>
          </a:p>
          <a:p>
            <a:pPr marL="0" lvl="0" indent="0" algn="just" rtl="0">
              <a:lnSpc>
                <a:spcPct val="100000"/>
              </a:lnSpc>
              <a:spcBef>
                <a:spcPts val="520"/>
              </a:spcBef>
              <a:spcAft>
                <a:spcPts val="0"/>
              </a:spcAft>
              <a:buClr>
                <a:schemeClr val="dk1"/>
              </a:buClr>
              <a:buSzPts val="2600"/>
              <a:buNone/>
            </a:pPr>
            <a:endParaRPr sz="2600" dirty="0"/>
          </a:p>
        </p:txBody>
      </p:sp>
      <p:sp>
        <p:nvSpPr>
          <p:cNvPr id="59" name="Google Shape;59;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60" name="Google Shape;6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61" name="Google Shape;6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8"/>
          <p:cNvSpPr txBox="1">
            <a:spLocks noGrp="1"/>
          </p:cNvSpPr>
          <p:nvPr>
            <p:ph type="title"/>
          </p:nvPr>
        </p:nvSpPr>
        <p:spPr>
          <a:xfrm>
            <a:off x="1905000" y="0"/>
            <a:ext cx="67056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Literature Review</a:t>
            </a:r>
            <a:br>
              <a:rPr lang="en-US" b="1">
                <a:latin typeface="Times New Roman"/>
                <a:ea typeface="Times New Roman"/>
                <a:cs typeface="Times New Roman"/>
                <a:sym typeface="Times New Roman"/>
              </a:rPr>
            </a:br>
            <a:r>
              <a:rPr lang="en-US" sz="2400" b="1">
                <a:latin typeface="Times New Roman"/>
                <a:ea typeface="Times New Roman"/>
                <a:cs typeface="Times New Roman"/>
                <a:sym typeface="Times New Roman"/>
              </a:rPr>
              <a:t>(latest year first)</a:t>
            </a:r>
            <a:endParaRPr b="1">
              <a:latin typeface="Times New Roman"/>
              <a:ea typeface="Times New Roman"/>
              <a:cs typeface="Times New Roman"/>
              <a:sym typeface="Times New Roman"/>
            </a:endParaRPr>
          </a:p>
        </p:txBody>
      </p:sp>
      <p:sp>
        <p:nvSpPr>
          <p:cNvPr id="67" name="Google Shape;67;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68" name="Google Shape;6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69" name="Google Shape;69;p8"/>
          <p:cNvSpPr txBox="1">
            <a:spLocks noGrp="1"/>
          </p:cNvSpPr>
          <p:nvPr>
            <p:ph type="ftr" idx="11"/>
          </p:nvPr>
        </p:nvSpPr>
        <p:spPr>
          <a:xfrm>
            <a:off x="3124200" y="6541965"/>
            <a:ext cx="2895600" cy="17951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70" name="Google Shape;70;p8"/>
          <p:cNvSpPr txBox="1"/>
          <p:nvPr/>
        </p:nvSpPr>
        <p:spPr>
          <a:xfrm>
            <a:off x="2572000" y="3219450"/>
            <a:ext cx="4000000" cy="5105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graphicFrame>
        <p:nvGraphicFramePr>
          <p:cNvPr id="71" name="Google Shape;71;p8"/>
          <p:cNvGraphicFramePr/>
          <p:nvPr>
            <p:extLst>
              <p:ext uri="{D42A27DB-BD31-4B8C-83A1-F6EECF244321}">
                <p14:modId xmlns:p14="http://schemas.microsoft.com/office/powerpoint/2010/main" val="3590625768"/>
              </p:ext>
            </p:extLst>
          </p:nvPr>
        </p:nvGraphicFramePr>
        <p:xfrm>
          <a:off x="683846" y="1143000"/>
          <a:ext cx="8001025" cy="5235100"/>
        </p:xfrm>
        <a:graphic>
          <a:graphicData uri="http://schemas.openxmlformats.org/drawingml/2006/table">
            <a:tbl>
              <a:tblPr firstRow="1" bandRow="1">
                <a:noFill/>
                <a:tableStyleId>{6C489E50-544A-4D75-81BA-83F8CCB34EA4}</a:tableStyleId>
              </a:tblPr>
              <a:tblGrid>
                <a:gridCol w="1100150">
                  <a:extLst>
                    <a:ext uri="{9D8B030D-6E8A-4147-A177-3AD203B41FA5}">
                      <a16:colId xmlns:a16="http://schemas.microsoft.com/office/drawing/2014/main" val="20000"/>
                    </a:ext>
                  </a:extLst>
                </a:gridCol>
                <a:gridCol w="2900375">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42052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S.No</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Name of the 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Journal name</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Inference</a:t>
                      </a:r>
                      <a:endParaRPr sz="1400" u="none" strike="noStrike" cap="none"/>
                    </a:p>
                  </a:txBody>
                  <a:tcPr marL="91450" marR="91450" marT="45725" marB="45725"/>
                </a:tc>
                <a:extLst>
                  <a:ext uri="{0D108BD9-81ED-4DB2-BD59-A6C34878D82A}">
                    <a16:rowId xmlns:a16="http://schemas.microsoft.com/office/drawing/2014/main" val="10000"/>
                  </a:ext>
                </a:extLst>
              </a:tr>
              <a:tr h="9852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      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dirty="0">
                          <a:solidFill>
                            <a:srgbClr val="0C0C0C"/>
                          </a:solidFill>
                          <a:latin typeface="Times New Roman"/>
                          <a:ea typeface="Times New Roman"/>
                          <a:cs typeface="Times New Roman"/>
                          <a:sym typeface="Times New Roman"/>
                        </a:rPr>
                        <a:t>A. Sharma and V. Mehta.</a:t>
                      </a:r>
                      <a:endParaRPr sz="1800" u="none" strike="noStrike" cap="none" dirty="0">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dirty="0">
                          <a:solidFill>
                            <a:srgbClr val="0C0C0C"/>
                          </a:solidFill>
                          <a:latin typeface="Times New Roman"/>
                          <a:ea typeface="Times New Roman"/>
                          <a:cs typeface="Times New Roman"/>
                          <a:sym typeface="Times New Roman"/>
                        </a:rPr>
                        <a:t>Design and Development of Sign Language Translation App. (2021)</a:t>
                      </a:r>
                      <a:endParaRPr sz="1800" u="none" strike="noStrike" cap="none" dirty="0">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a:solidFill>
                            <a:srgbClr val="0C0C0C"/>
                          </a:solidFill>
                          <a:latin typeface="Times New Roman"/>
                          <a:ea typeface="Times New Roman"/>
                          <a:cs typeface="Times New Roman"/>
                          <a:sym typeface="Times New Roman"/>
                        </a:rPr>
                        <a:t>Provide details on the technical aspects of the app, including the tools used and device compatibility.</a:t>
                      </a:r>
                      <a:endParaRPr sz="1800" u="none" strike="noStrike" cap="none">
                        <a:solidFill>
                          <a:srgbClr val="0C0C0C"/>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8290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  </a:t>
                      </a:r>
                      <a:endParaRPr sz="1400" u="none" strike="noStrike" cap="none"/>
                    </a:p>
                    <a:p>
                      <a:pPr marL="0" marR="0" lvl="0" indent="0" algn="l" rtl="0">
                        <a:lnSpc>
                          <a:spcPct val="100000"/>
                        </a:lnSpc>
                        <a:spcBef>
                          <a:spcPts val="0"/>
                        </a:spcBef>
                        <a:spcAft>
                          <a:spcPts val="0"/>
                        </a:spcAft>
                        <a:buClr>
                          <a:schemeClr val="dk1"/>
                        </a:buClr>
                        <a:buSzPts val="1800"/>
                        <a:buFont typeface="Calibri"/>
                        <a:buNone/>
                      </a:pPr>
                      <a:r>
                        <a:rPr lang="en-US" sz="1800" u="none" strike="noStrike" cap="none"/>
                        <a:t>      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a:solidFill>
                            <a:srgbClr val="0C0C0C"/>
                          </a:solidFill>
                          <a:latin typeface="Times New Roman"/>
                          <a:ea typeface="Times New Roman"/>
                          <a:cs typeface="Times New Roman"/>
                          <a:sym typeface="Times New Roman"/>
                        </a:rPr>
                        <a:t>Priya M. and K. Raghavan.</a:t>
                      </a:r>
                      <a:endParaRPr sz="1800" u="none" strike="noStrike" cap="none">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dirty="0">
                          <a:solidFill>
                            <a:srgbClr val="0C0C0C"/>
                          </a:solidFill>
                          <a:latin typeface="Times New Roman"/>
                          <a:ea typeface="Times New Roman"/>
                          <a:cs typeface="Times New Roman"/>
                          <a:sym typeface="Times New Roman"/>
                        </a:rPr>
                        <a:t>A Survey of Visual Communication Tools for Hearing Impaired. (2021)</a:t>
                      </a:r>
                      <a:endParaRPr sz="1800" u="none" strike="noStrike" cap="none" dirty="0">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a:solidFill>
                            <a:srgbClr val="0C0C0C"/>
                          </a:solidFill>
                          <a:latin typeface="Times New Roman"/>
                          <a:ea typeface="Times New Roman"/>
                          <a:cs typeface="Times New Roman"/>
                          <a:sym typeface="Times New Roman"/>
                        </a:rPr>
                        <a:t>Conduct a survey of existing tools that support sign language and visual communication.</a:t>
                      </a:r>
                      <a:endParaRPr sz="1800" u="none" strike="noStrike" cap="none">
                        <a:solidFill>
                          <a:srgbClr val="0C0C0C"/>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8290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chemeClr val="dk1"/>
                        </a:buClr>
                        <a:buSzPts val="1800"/>
                        <a:buFont typeface="Calibri"/>
                        <a:buNone/>
                      </a:pPr>
                      <a:r>
                        <a:rPr lang="en-US" sz="1800" u="none" strike="noStrike" cap="none"/>
                        <a:t>      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dirty="0">
                          <a:solidFill>
                            <a:srgbClr val="0C0C0C"/>
                          </a:solidFill>
                          <a:latin typeface="Times New Roman"/>
                          <a:ea typeface="Times New Roman"/>
                          <a:cs typeface="Times New Roman"/>
                          <a:sym typeface="Times New Roman"/>
                        </a:rPr>
                        <a:t>R. Deepa and S. Kavitha.</a:t>
                      </a:r>
                      <a:endParaRPr sz="1800" u="none" strike="noStrike" cap="none" dirty="0">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dirty="0">
                          <a:solidFill>
                            <a:srgbClr val="0C0C0C"/>
                          </a:solidFill>
                          <a:latin typeface="Times New Roman"/>
                          <a:ea typeface="Times New Roman"/>
                          <a:cs typeface="Times New Roman"/>
                          <a:sym typeface="Times New Roman"/>
                        </a:rPr>
                        <a:t>Development of a Visual Aid System for Sign Language Using AR and Camera Input.(2017)</a:t>
                      </a:r>
                      <a:endParaRPr sz="1800" u="none" strike="noStrike" cap="none" dirty="0">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a:solidFill>
                            <a:srgbClr val="0C0C0C"/>
                          </a:solidFill>
                          <a:latin typeface="Times New Roman"/>
                          <a:ea typeface="Times New Roman"/>
                          <a:cs typeface="Times New Roman"/>
                          <a:sym typeface="Times New Roman"/>
                        </a:rPr>
                        <a:t>Design and develop a system that leverages augmented reality and camera input to aid communication.</a:t>
                      </a:r>
                      <a:endParaRPr sz="1800" u="none" strike="noStrike" cap="none">
                        <a:solidFill>
                          <a:srgbClr val="0C0C0C"/>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r h="9852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chemeClr val="dk1"/>
                        </a:buClr>
                        <a:buSzPts val="1800"/>
                        <a:buFont typeface="Calibri"/>
                        <a:buNone/>
                      </a:pPr>
                      <a:r>
                        <a:rPr lang="en-US" sz="1800" u="none" strike="noStrike" cap="none"/>
                        <a:t>      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a:solidFill>
                            <a:srgbClr val="0C0C0C"/>
                          </a:solidFill>
                          <a:latin typeface="Times New Roman"/>
                          <a:ea typeface="Times New Roman"/>
                          <a:cs typeface="Times New Roman"/>
                          <a:sym typeface="Times New Roman"/>
                        </a:rPr>
                        <a:t>Mohit Verma, Tanya Rao, and Arjun Nair.</a:t>
                      </a:r>
                      <a:endParaRPr sz="1800" u="none" strike="noStrike" cap="none">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dirty="0">
                          <a:solidFill>
                            <a:srgbClr val="0C0C0C"/>
                          </a:solidFill>
                          <a:latin typeface="Times New Roman"/>
                          <a:ea typeface="Times New Roman"/>
                          <a:cs typeface="Times New Roman"/>
                          <a:sym typeface="Times New Roman"/>
                        </a:rPr>
                        <a:t>Sign Language Communication Tool with Real-time Gesture Recognition and Subtitling.(2010)</a:t>
                      </a:r>
                      <a:endParaRPr sz="1800" u="none" strike="noStrike" cap="none" dirty="0">
                        <a:solidFill>
                          <a:srgbClr val="0C0C0C"/>
                        </a:solidFill>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rgbClr val="0C0C0C"/>
                        </a:buClr>
                        <a:buSzPts val="1200"/>
                        <a:buFont typeface="Times New Roman"/>
                        <a:buNone/>
                      </a:pPr>
                      <a:r>
                        <a:rPr lang="en-US" sz="1200">
                          <a:solidFill>
                            <a:srgbClr val="0C0C0C"/>
                          </a:solidFill>
                          <a:latin typeface="Times New Roman"/>
                          <a:ea typeface="Times New Roman"/>
                          <a:cs typeface="Times New Roman"/>
                          <a:sym typeface="Times New Roman"/>
                        </a:rPr>
                        <a:t>Design and develop a system that includes gesture recognition and real-time subtitles.</a:t>
                      </a:r>
                      <a:endParaRPr sz="1800" u="none" strike="noStrike" cap="none">
                        <a:solidFill>
                          <a:srgbClr val="0C0C0C"/>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11654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chemeClr val="dk1"/>
                        </a:buClr>
                        <a:buSzPts val="1800"/>
                        <a:buFont typeface="Calibri"/>
                        <a:buNone/>
                      </a:pPr>
                      <a:r>
                        <a:rPr lang="en-US" sz="1800" u="none" strike="noStrike" cap="none"/>
                        <a:t>      5</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a:solidFill>
                            <a:srgbClr val="0C0C0C"/>
                          </a:solidFill>
                          <a:latin typeface="Times New Roman"/>
                          <a:ea typeface="Times New Roman"/>
                          <a:cs typeface="Times New Roman"/>
                          <a:sym typeface="Times New Roman"/>
                        </a:rPr>
                        <a:t>B. Keerthi and D. Nishanth.</a:t>
                      </a:r>
                      <a:endParaRPr sz="1800" u="none" strike="noStrike" cap="none">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dirty="0">
                          <a:solidFill>
                            <a:srgbClr val="0C0C0C"/>
                          </a:solidFill>
                          <a:latin typeface="Times New Roman"/>
                          <a:ea typeface="Times New Roman"/>
                          <a:cs typeface="Times New Roman"/>
                          <a:sym typeface="Times New Roman"/>
                        </a:rPr>
                        <a:t>A Novel Assistive Communication System Using Visual Aids and Embedded Devices. (2007)</a:t>
                      </a:r>
                      <a:endParaRPr sz="1800" u="none" strike="noStrike" cap="none" dirty="0">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C0C0C"/>
                        </a:buClr>
                        <a:buSzPts val="1200"/>
                        <a:buFont typeface="Times New Roman"/>
                        <a:buNone/>
                      </a:pPr>
                      <a:r>
                        <a:rPr lang="en-US" sz="1200" dirty="0">
                          <a:solidFill>
                            <a:srgbClr val="0C0C0C"/>
                          </a:solidFill>
                          <a:latin typeface="Times New Roman"/>
                          <a:ea typeface="Times New Roman"/>
                          <a:cs typeface="Times New Roman"/>
                          <a:sym typeface="Times New Roman"/>
                        </a:rPr>
                        <a:t>Develop a novel assistive system that combines embedded devices with visual aid support.</a:t>
                      </a:r>
                      <a:endParaRPr sz="1800" u="none" strike="noStrike" cap="none" dirty="0">
                        <a:solidFill>
                          <a:srgbClr val="0C0C0C"/>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9"/>
          <p:cNvSpPr txBox="1">
            <a:spLocks noGrp="1"/>
          </p:cNvSpPr>
          <p:nvPr>
            <p:ph type="title"/>
          </p:nvPr>
        </p:nvSpPr>
        <p:spPr>
          <a:xfrm>
            <a:off x="457200" y="274638"/>
            <a:ext cx="8229600" cy="792162"/>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Times New Roman"/>
              <a:buNone/>
            </a:pPr>
            <a:r>
              <a:rPr lang="en-US" sz="4000" b="1" dirty="0">
                <a:latin typeface="Times New Roman"/>
                <a:ea typeface="Times New Roman"/>
                <a:cs typeface="Times New Roman"/>
                <a:sym typeface="Times New Roman"/>
              </a:rPr>
              <a:t>               EXISTING SYSTEM</a:t>
            </a:r>
            <a:endParaRPr sz="4000" b="1" dirty="0">
              <a:latin typeface="Times New Roman"/>
              <a:ea typeface="Times New Roman"/>
              <a:cs typeface="Times New Roman"/>
              <a:sym typeface="Times New Roman"/>
            </a:endParaRPr>
          </a:p>
        </p:txBody>
      </p:sp>
      <p:sp>
        <p:nvSpPr>
          <p:cNvPr id="77" name="Google Shape;77;p9"/>
          <p:cNvSpPr txBox="1">
            <a:spLocks noGrp="1"/>
          </p:cNvSpPr>
          <p:nvPr>
            <p:ph type="body" idx="1"/>
          </p:nvPr>
        </p:nvSpPr>
        <p:spPr>
          <a:xfrm>
            <a:off x="358878" y="1334293"/>
            <a:ext cx="8229600" cy="4754563"/>
          </a:xfrm>
          <a:prstGeom prst="rect">
            <a:avLst/>
          </a:prstGeom>
          <a:noFill/>
          <a:ln>
            <a:noFill/>
          </a:ln>
        </p:spPr>
        <p:txBody>
          <a:bodyPr spcFirstLastPara="1" wrap="square" lIns="91425" tIns="45700" rIns="91425" bIns="45700" anchor="t" anchorCtr="0">
            <a:normAutofit fontScale="47500" lnSpcReduction="20000"/>
          </a:bodyPr>
          <a:lstStyle/>
          <a:p>
            <a:pPr marL="457200" lvl="0" indent="-336550" algn="just" rtl="0">
              <a:lnSpc>
                <a:spcPct val="150000"/>
              </a:lnSpc>
              <a:spcBef>
                <a:spcPts val="1200"/>
              </a:spcBef>
              <a:spcAft>
                <a:spcPts val="0"/>
              </a:spcAft>
              <a:buSzPct val="100000"/>
              <a:buFont typeface="Noto Sans Symbols"/>
              <a:buChar char="✔"/>
            </a:pPr>
            <a:r>
              <a:rPr lang="en-US" sz="4200" dirty="0">
                <a:latin typeface="Times New Roman"/>
                <a:ea typeface="Times New Roman"/>
                <a:cs typeface="Times New Roman"/>
                <a:sym typeface="Times New Roman"/>
              </a:rPr>
              <a:t>There are several existing systems that aim to bridge communication gaps for the hearing and speech impaired. Some rely on depth sensors or computer vision models to capture hand gestures and interpret signs in real-time using specific hardware and software setups.</a:t>
            </a:r>
            <a:endParaRPr sz="4200" dirty="0">
              <a:latin typeface="Times New Roman"/>
              <a:ea typeface="Times New Roman"/>
              <a:cs typeface="Times New Roman"/>
              <a:sym typeface="Times New Roman"/>
            </a:endParaRPr>
          </a:p>
          <a:p>
            <a:pPr marL="457200" lvl="0" indent="-336550" algn="just" rtl="0">
              <a:lnSpc>
                <a:spcPct val="150000"/>
              </a:lnSpc>
              <a:spcBef>
                <a:spcPts val="0"/>
              </a:spcBef>
              <a:spcAft>
                <a:spcPts val="0"/>
              </a:spcAft>
              <a:buSzPct val="100000"/>
              <a:buFont typeface="Noto Sans Symbols"/>
              <a:buChar char="✔"/>
            </a:pPr>
            <a:r>
              <a:rPr lang="en-US" sz="4200" dirty="0">
                <a:latin typeface="Times New Roman"/>
                <a:ea typeface="Times New Roman"/>
                <a:cs typeface="Times New Roman"/>
                <a:sym typeface="Times New Roman"/>
              </a:rPr>
              <a:t>Many of these systems work well in controlled environments and require large datasets for training, but most are highly sensitive to lighting conditions, depth range, and static gestures. </a:t>
            </a:r>
          </a:p>
          <a:p>
            <a:pPr marL="457200" lvl="0" indent="-336550" algn="just" rtl="0">
              <a:lnSpc>
                <a:spcPct val="150000"/>
              </a:lnSpc>
              <a:spcBef>
                <a:spcPts val="0"/>
              </a:spcBef>
              <a:spcAft>
                <a:spcPts val="0"/>
              </a:spcAft>
              <a:buSzPct val="100000"/>
              <a:buFont typeface="Noto Sans Symbols"/>
              <a:buChar char="✔"/>
            </a:pPr>
            <a:r>
              <a:rPr lang="en-US" sz="4200" dirty="0">
                <a:latin typeface="Times New Roman"/>
                <a:ea typeface="Times New Roman"/>
                <a:cs typeface="Times New Roman"/>
                <a:sym typeface="Times New Roman"/>
              </a:rPr>
              <a:t>One major drawback in almost all these systems is the lack of adaptability in real-world </a:t>
            </a:r>
            <a:r>
              <a:rPr lang="en-US" sz="4200">
                <a:latin typeface="Times New Roman"/>
                <a:ea typeface="Times New Roman"/>
                <a:cs typeface="Times New Roman"/>
                <a:sym typeface="Times New Roman"/>
              </a:rPr>
              <a:t>environments. </a:t>
            </a:r>
            <a:r>
              <a:rPr lang="en-US" sz="4200" dirty="0">
                <a:latin typeface="Times New Roman"/>
                <a:ea typeface="Times New Roman"/>
                <a:cs typeface="Times New Roman"/>
                <a:sym typeface="Times New Roman"/>
              </a:rPr>
              <a:t>This limits accessibility and real-time usage in day-to-day life.</a:t>
            </a:r>
            <a:endParaRPr sz="4200" dirty="0">
              <a:latin typeface="Times New Roman"/>
              <a:ea typeface="Times New Roman"/>
              <a:cs typeface="Times New Roman"/>
              <a:sym typeface="Times New Roman"/>
            </a:endParaRPr>
          </a:p>
          <a:p>
            <a:pPr marL="457200" lvl="0" indent="0" algn="just" rtl="0">
              <a:lnSpc>
                <a:spcPct val="100000"/>
              </a:lnSpc>
              <a:spcBef>
                <a:spcPts val="1200"/>
              </a:spcBef>
              <a:spcAft>
                <a:spcPts val="0"/>
              </a:spcAft>
              <a:buNone/>
            </a:pPr>
            <a:endParaRPr sz="4200" dirty="0">
              <a:latin typeface="Times New Roman"/>
              <a:ea typeface="Times New Roman"/>
              <a:cs typeface="Times New Roman"/>
              <a:sym typeface="Times New Roman"/>
            </a:endParaRPr>
          </a:p>
          <a:p>
            <a:pPr marL="342900" lvl="0" indent="-215900" algn="l" rtl="0">
              <a:lnSpc>
                <a:spcPct val="100000"/>
              </a:lnSpc>
              <a:spcBef>
                <a:spcPts val="400"/>
              </a:spcBef>
              <a:spcAft>
                <a:spcPts val="0"/>
              </a:spcAft>
              <a:buClr>
                <a:schemeClr val="dk1"/>
              </a:buClr>
              <a:buSzPct val="100000"/>
              <a:buNone/>
            </a:pPr>
            <a:endParaRPr sz="2000" dirty="0">
              <a:latin typeface="Times New Roman"/>
              <a:ea typeface="Times New Roman"/>
              <a:cs typeface="Times New Roman"/>
              <a:sym typeface="Times New Roman"/>
            </a:endParaRPr>
          </a:p>
        </p:txBody>
      </p:sp>
      <p:sp>
        <p:nvSpPr>
          <p:cNvPr id="78" name="Google Shape;7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a:p>
            <a:pPr marL="0" lvl="0" indent="0" algn="l" rtl="0">
              <a:lnSpc>
                <a:spcPct val="100000"/>
              </a:lnSpc>
              <a:spcBef>
                <a:spcPts val="0"/>
              </a:spcBef>
              <a:spcAft>
                <a:spcPts val="0"/>
              </a:spcAft>
              <a:buSzPts val="1400"/>
              <a:buNone/>
            </a:pPr>
            <a:endParaRPr dirty="0"/>
          </a:p>
        </p:txBody>
      </p:sp>
      <p:sp>
        <p:nvSpPr>
          <p:cNvPr id="79" name="Google Shape;7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80" name="Google Shape;8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0"/>
          <p:cNvSpPr txBox="1">
            <a:spLocks noGrp="1"/>
          </p:cNvSpPr>
          <p:nvPr>
            <p:ph type="title"/>
          </p:nvPr>
        </p:nvSpPr>
        <p:spPr>
          <a:xfrm>
            <a:off x="1828800" y="0"/>
            <a:ext cx="6849374" cy="10668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2800"/>
              <a:buFont typeface="Times New Roman"/>
              <a:buNone/>
            </a:pPr>
            <a:r>
              <a:rPr lang="en-US" sz="2800" b="1">
                <a:latin typeface="Times New Roman"/>
                <a:ea typeface="Times New Roman"/>
                <a:cs typeface="Times New Roman"/>
                <a:sym typeface="Times New Roman"/>
              </a:rPr>
              <a:t>      </a:t>
            </a:r>
            <a:r>
              <a:rPr lang="en-US" sz="3200" b="1">
                <a:latin typeface="Times New Roman"/>
                <a:ea typeface="Times New Roman"/>
                <a:cs typeface="Times New Roman"/>
                <a:sym typeface="Times New Roman"/>
              </a:rPr>
              <a:t>PROBLEMS IN EXISTING</a:t>
            </a:r>
            <a:br>
              <a:rPr lang="en-US" sz="3200" b="1">
                <a:latin typeface="Times New Roman"/>
                <a:ea typeface="Times New Roman"/>
                <a:cs typeface="Times New Roman"/>
                <a:sym typeface="Times New Roman"/>
              </a:rPr>
            </a:br>
            <a:r>
              <a:rPr lang="en-US" sz="3200" b="1">
                <a:latin typeface="Times New Roman"/>
                <a:ea typeface="Times New Roman"/>
                <a:cs typeface="Times New Roman"/>
                <a:sym typeface="Times New Roman"/>
              </a:rPr>
              <a:t>SYSTEM</a:t>
            </a:r>
            <a:endParaRPr sz="3200" b="1">
              <a:latin typeface="Times New Roman"/>
              <a:ea typeface="Times New Roman"/>
              <a:cs typeface="Times New Roman"/>
              <a:sym typeface="Times New Roman"/>
            </a:endParaRPr>
          </a:p>
        </p:txBody>
      </p:sp>
      <p:sp>
        <p:nvSpPr>
          <p:cNvPr id="86" name="Google Shape;86;p10"/>
          <p:cNvSpPr txBox="1">
            <a:spLocks noGrp="1"/>
          </p:cNvSpPr>
          <p:nvPr>
            <p:ph type="body" idx="1"/>
          </p:nvPr>
        </p:nvSpPr>
        <p:spPr>
          <a:xfrm>
            <a:off x="299883" y="1376080"/>
            <a:ext cx="8229600" cy="4906963"/>
          </a:xfrm>
          <a:prstGeom prst="rect">
            <a:avLst/>
          </a:prstGeom>
          <a:noFill/>
          <a:ln>
            <a:noFill/>
          </a:ln>
        </p:spPr>
        <p:txBody>
          <a:bodyPr spcFirstLastPara="1" wrap="square" lIns="91425" tIns="45700" rIns="91425" bIns="45700" anchor="t" anchorCtr="0">
            <a:normAutofit/>
          </a:bodyPr>
          <a:lstStyle/>
          <a:p>
            <a:pPr indent="-336550" algn="just">
              <a:lnSpc>
                <a:spcPct val="130000"/>
              </a:lnSpc>
              <a:spcBef>
                <a:spcPts val="360"/>
              </a:spcBef>
              <a:buSzPct val="100000"/>
              <a:buFont typeface="Noto Sans Symbols"/>
              <a:buChar char="✔"/>
            </a:pPr>
            <a:r>
              <a:rPr lang="en-US" sz="2000" dirty="0">
                <a:latin typeface="Times New Roman"/>
                <a:cs typeface="Times New Roman"/>
                <a:sym typeface="Times New Roman"/>
              </a:rPr>
              <a:t>Microsoft Research Project (2011): Required specific hardware setup, Limited depth sensing range, Sensitive to environmental conditions, Depended on specific hardware availability.</a:t>
            </a:r>
            <a:endParaRPr sz="2000" dirty="0">
              <a:latin typeface="Times New Roman"/>
              <a:cs typeface="Times New Roman"/>
              <a:sym typeface="Times New Roman"/>
            </a:endParaRPr>
          </a:p>
          <a:p>
            <a:pPr indent="-336550" algn="just">
              <a:lnSpc>
                <a:spcPct val="130000"/>
              </a:lnSpc>
              <a:spcBef>
                <a:spcPts val="360"/>
              </a:spcBef>
              <a:buSzPct val="100000"/>
              <a:buFont typeface="Noto Sans Symbols"/>
              <a:buChar char="✔"/>
            </a:pPr>
            <a:r>
              <a:rPr lang="en-US" sz="2000" dirty="0">
                <a:latin typeface="Times New Roman"/>
                <a:cs typeface="Times New Roman"/>
                <a:sym typeface="Times New Roman"/>
              </a:rPr>
              <a:t>Chinese Sign Language Recognition System (2017): Required large amounts of training data, Limited to specific sign language dialect, High computational requirements, Limited to specific lighting conditions.</a:t>
            </a:r>
            <a:endParaRPr sz="2000" dirty="0">
              <a:latin typeface="Times New Roman"/>
              <a:cs typeface="Times New Roman"/>
              <a:sym typeface="Times New Roman"/>
            </a:endParaRPr>
          </a:p>
          <a:p>
            <a:pPr indent="-336550" algn="just">
              <a:lnSpc>
                <a:spcPct val="130000"/>
              </a:lnSpc>
              <a:spcBef>
                <a:spcPts val="360"/>
              </a:spcBef>
              <a:buSzPct val="100000"/>
              <a:buFont typeface="Noto Sans Symbols"/>
              <a:buChar char="✔"/>
            </a:pPr>
            <a:r>
              <a:rPr lang="en-US" sz="2000" dirty="0">
                <a:latin typeface="Times New Roman"/>
                <a:cs typeface="Times New Roman"/>
                <a:sym typeface="Times New Roman"/>
              </a:rPr>
              <a:t>University of California System: Required controlled environments, Limited to static hand poses, Needed specific lighting conditions, Could not handle dynamic gestures.</a:t>
            </a:r>
            <a:endParaRPr sz="2000" dirty="0">
              <a:latin typeface="Times New Roman"/>
              <a:cs typeface="Times New Roman"/>
            </a:endParaRPr>
          </a:p>
          <a:p>
            <a:pPr indent="-336550">
              <a:lnSpc>
                <a:spcPct val="130000"/>
              </a:lnSpc>
              <a:spcBef>
                <a:spcPts val="360"/>
              </a:spcBef>
              <a:buSzPct val="100000"/>
              <a:buFont typeface="Noto Sans Symbols"/>
              <a:buChar char="✔"/>
            </a:pPr>
            <a:endParaRPr sz="2000" dirty="0">
              <a:latin typeface="Times New Roman"/>
              <a:cs typeface="Times New Roman"/>
              <a:sym typeface="Times New Roman"/>
            </a:endParaRPr>
          </a:p>
          <a:p>
            <a:pPr marL="342900" lvl="0" algn="just" rtl="0">
              <a:lnSpc>
                <a:spcPct val="100000"/>
              </a:lnSpc>
              <a:spcBef>
                <a:spcPts val="480"/>
              </a:spcBef>
              <a:spcAft>
                <a:spcPts val="0"/>
              </a:spcAft>
              <a:buClr>
                <a:schemeClr val="dk1"/>
              </a:buClr>
              <a:buSzPts val="2400"/>
              <a:buFont typeface="Wingdings" panose="05000000000000000000" pitchFamily="2" charset="2"/>
              <a:buChar char="ü"/>
            </a:pPr>
            <a:endParaRPr sz="2400" dirty="0">
              <a:latin typeface="Times New Roman"/>
              <a:ea typeface="Times New Roman"/>
              <a:cs typeface="Times New Roman"/>
              <a:sym typeface="Times New Roman"/>
            </a:endParaRPr>
          </a:p>
          <a:p>
            <a:pPr marL="342900" lvl="0" algn="just" rtl="0">
              <a:lnSpc>
                <a:spcPct val="100000"/>
              </a:lnSpc>
              <a:spcBef>
                <a:spcPts val="480"/>
              </a:spcBef>
              <a:spcAft>
                <a:spcPts val="0"/>
              </a:spcAft>
              <a:buClr>
                <a:schemeClr val="dk1"/>
              </a:buClr>
              <a:buSzPts val="2400"/>
              <a:buFont typeface="Wingdings" panose="05000000000000000000" pitchFamily="2" charset="2"/>
              <a:buChar char="ü"/>
            </a:pPr>
            <a:endParaRPr sz="2400" dirty="0">
              <a:latin typeface="Times New Roman"/>
              <a:ea typeface="Times New Roman"/>
              <a:cs typeface="Times New Roman"/>
              <a:sym typeface="Times New Roman"/>
            </a:endParaRPr>
          </a:p>
          <a:p>
            <a:pPr marL="342900" lvl="0" algn="just" rtl="0">
              <a:lnSpc>
                <a:spcPct val="100000"/>
              </a:lnSpc>
              <a:spcBef>
                <a:spcPts val="480"/>
              </a:spcBef>
              <a:spcAft>
                <a:spcPts val="0"/>
              </a:spcAft>
              <a:buClr>
                <a:schemeClr val="dk1"/>
              </a:buClr>
              <a:buSzPts val="2400"/>
              <a:buFont typeface="Wingdings" panose="05000000000000000000" pitchFamily="2" charset="2"/>
              <a:buChar char="ü"/>
            </a:pPr>
            <a:endParaRPr sz="2400" dirty="0">
              <a:latin typeface="Times New Roman"/>
              <a:ea typeface="Times New Roman"/>
              <a:cs typeface="Times New Roman"/>
              <a:sym typeface="Times New Roman"/>
            </a:endParaRPr>
          </a:p>
        </p:txBody>
      </p:sp>
      <p:sp>
        <p:nvSpPr>
          <p:cNvPr id="87" name="Google Shape;8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88" name="Google Shape;8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89" name="Google Shape;8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1"/>
          <p:cNvSpPr txBox="1">
            <a:spLocks noGrp="1"/>
          </p:cNvSpPr>
          <p:nvPr>
            <p:ph type="title"/>
          </p:nvPr>
        </p:nvSpPr>
        <p:spPr>
          <a:xfrm>
            <a:off x="1981200" y="76200"/>
            <a:ext cx="6705600" cy="990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PROPOSED SOLUTION</a:t>
            </a:r>
            <a:endParaRPr sz="3200" b="1">
              <a:latin typeface="Times New Roman"/>
              <a:ea typeface="Times New Roman"/>
              <a:cs typeface="Times New Roman"/>
              <a:sym typeface="Times New Roman"/>
            </a:endParaRPr>
          </a:p>
        </p:txBody>
      </p:sp>
      <p:sp>
        <p:nvSpPr>
          <p:cNvPr id="95" name="Google Shape;95;p11"/>
          <p:cNvSpPr txBox="1">
            <a:spLocks noGrp="1"/>
          </p:cNvSpPr>
          <p:nvPr>
            <p:ph type="body" idx="1"/>
          </p:nvPr>
        </p:nvSpPr>
        <p:spPr>
          <a:xfrm>
            <a:off x="457200" y="1066800"/>
            <a:ext cx="8229600" cy="5137151"/>
          </a:xfrm>
          <a:prstGeom prst="rect">
            <a:avLst/>
          </a:prstGeom>
          <a:noFill/>
          <a:ln>
            <a:noFill/>
          </a:ln>
        </p:spPr>
        <p:txBody>
          <a:bodyPr spcFirstLastPara="1" wrap="square" lIns="91425" tIns="45700" rIns="91425" bIns="45700" anchor="t" anchorCtr="0">
            <a:normAutofit fontScale="70000" lnSpcReduction="20000"/>
          </a:bodyPr>
          <a:lstStyle/>
          <a:p>
            <a:pPr marL="285750" indent="-161290" algn="just">
              <a:spcBef>
                <a:spcPts val="392"/>
              </a:spcBef>
              <a:buSzPct val="100000"/>
              <a:buNone/>
            </a:pPr>
            <a:r>
              <a:rPr lang="en-US" sz="3400" dirty="0">
                <a:latin typeface="Times New Roman"/>
                <a:ea typeface="Times New Roman"/>
                <a:cs typeface="Times New Roman"/>
                <a:sym typeface="Times New Roman"/>
              </a:rPr>
              <a:t>  </a:t>
            </a:r>
            <a:r>
              <a:rPr lang="en-US" sz="3100" dirty="0">
                <a:latin typeface="Times New Roman" panose="02020603050405020304" pitchFamily="18" charset="0"/>
                <a:ea typeface="Times New Roman"/>
                <a:cs typeface="Times New Roman" panose="02020603050405020304" pitchFamily="18" charset="0"/>
                <a:sym typeface="Times New Roman"/>
              </a:rPr>
              <a:t>Features in </a:t>
            </a:r>
            <a:r>
              <a:rPr lang="en-US" sz="3100" dirty="0" err="1">
                <a:latin typeface="Times New Roman" panose="02020603050405020304" pitchFamily="18" charset="0"/>
                <a:ea typeface="Times New Roman"/>
                <a:cs typeface="Times New Roman" panose="02020603050405020304" pitchFamily="18" charset="0"/>
                <a:sym typeface="Times New Roman"/>
              </a:rPr>
              <a:t>IncludeEd</a:t>
            </a:r>
            <a:r>
              <a:rPr lang="en-US" sz="3100" dirty="0">
                <a:latin typeface="Times New Roman" panose="02020603050405020304" pitchFamily="18" charset="0"/>
                <a:ea typeface="Times New Roman"/>
                <a:cs typeface="Times New Roman" panose="02020603050405020304" pitchFamily="18" charset="0"/>
                <a:sym typeface="Times New Roman"/>
              </a:rPr>
              <a:t> that overcomes the problems in existing      system:</a:t>
            </a:r>
          </a:p>
          <a:p>
            <a:pPr marL="285750" indent="-161290" algn="just">
              <a:spcBef>
                <a:spcPts val="392"/>
              </a:spcBef>
              <a:buSzPct val="100000"/>
              <a:buNone/>
            </a:pPr>
            <a:endParaRPr lang="en-US" sz="2800" dirty="0">
              <a:latin typeface="Times New Roman"/>
              <a:ea typeface="Times New Roman"/>
              <a:cs typeface="Times New Roman"/>
              <a:sym typeface="Times New Roman"/>
            </a:endParaRPr>
          </a:p>
          <a:p>
            <a:pPr marL="285750" lvl="0" indent="-285750" algn="just" rtl="0">
              <a:lnSpc>
                <a:spcPct val="100000"/>
              </a:lnSpc>
              <a:spcBef>
                <a:spcPts val="392"/>
              </a:spcBef>
              <a:spcAft>
                <a:spcPts val="0"/>
              </a:spcAft>
              <a:buClr>
                <a:schemeClr val="dk1"/>
              </a:buClr>
              <a:buSzPct val="100000"/>
              <a:buFont typeface="Noto Sans Symbols"/>
              <a:buChar char="✔"/>
            </a:pPr>
            <a:r>
              <a:rPr lang="en-US" sz="2900" b="1" dirty="0">
                <a:latin typeface="Times New Roman" panose="02020603050405020304" pitchFamily="18" charset="0"/>
                <a:ea typeface="Times New Roman"/>
                <a:cs typeface="Times New Roman" panose="02020603050405020304" pitchFamily="18" charset="0"/>
                <a:sym typeface="Times New Roman"/>
              </a:rPr>
              <a:t>Environmental Adaptability: </a:t>
            </a:r>
            <a:r>
              <a:rPr lang="en-US" sz="2900" dirty="0">
                <a:latin typeface="Times New Roman" panose="02020603050405020304" pitchFamily="18" charset="0"/>
                <a:ea typeface="Times New Roman"/>
                <a:cs typeface="Times New Roman" panose="02020603050405020304" pitchFamily="18" charset="0"/>
                <a:sym typeface="Times New Roman"/>
              </a:rPr>
              <a:t>Works across different lighting conditions, Handles varying backgrounds, No need for controlled environments.</a:t>
            </a:r>
            <a:endParaRPr sz="2900" dirty="0">
              <a:latin typeface="Times New Roman" panose="02020603050405020304" pitchFamily="18" charset="0"/>
              <a:cs typeface="Times New Roman" panose="02020603050405020304" pitchFamily="18" charset="0"/>
            </a:endParaRPr>
          </a:p>
          <a:p>
            <a:pPr marL="0" lvl="0" indent="0" algn="just" rtl="0">
              <a:lnSpc>
                <a:spcPct val="100000"/>
              </a:lnSpc>
              <a:spcBef>
                <a:spcPts val="392"/>
              </a:spcBef>
              <a:spcAft>
                <a:spcPts val="0"/>
              </a:spcAft>
              <a:buClr>
                <a:schemeClr val="dk1"/>
              </a:buClr>
              <a:buSzPct val="100000"/>
              <a:buNone/>
            </a:pPr>
            <a:endParaRPr sz="2900" dirty="0">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100000"/>
              </a:lnSpc>
              <a:spcBef>
                <a:spcPts val="392"/>
              </a:spcBef>
              <a:spcAft>
                <a:spcPts val="0"/>
              </a:spcAft>
              <a:buSzPct val="100000"/>
              <a:buFont typeface="Noto Sans Symbols"/>
              <a:buChar char="✔"/>
            </a:pPr>
            <a:r>
              <a:rPr lang="en-US" sz="2900" b="1" dirty="0">
                <a:latin typeface="Times New Roman" panose="02020603050405020304" pitchFamily="18" charset="0"/>
                <a:ea typeface="Times New Roman"/>
                <a:cs typeface="Times New Roman" panose="02020603050405020304" pitchFamily="18" charset="0"/>
                <a:sym typeface="Times New Roman"/>
              </a:rPr>
              <a:t>Hardware Independence</a:t>
            </a:r>
            <a:r>
              <a:rPr lang="en-US" sz="2900" dirty="0">
                <a:latin typeface="Times New Roman" panose="02020603050405020304" pitchFamily="18" charset="0"/>
                <a:ea typeface="Times New Roman"/>
                <a:cs typeface="Times New Roman" panose="02020603050405020304" pitchFamily="18" charset="0"/>
                <a:sym typeface="Times New Roman"/>
              </a:rPr>
              <a:t>: Uses standard webcam instead of specialized hardware, No requirement for gloves or sensors, Works with basic computer setup.</a:t>
            </a:r>
            <a:endParaRPr sz="2900" dirty="0">
              <a:latin typeface="Times New Roman" panose="02020603050405020304" pitchFamily="18" charset="0"/>
              <a:cs typeface="Times New Roman" panose="02020603050405020304" pitchFamily="18" charset="0"/>
            </a:endParaRPr>
          </a:p>
          <a:p>
            <a:pPr marL="0" lvl="0" indent="0" algn="just" rtl="0">
              <a:lnSpc>
                <a:spcPct val="100000"/>
              </a:lnSpc>
              <a:spcBef>
                <a:spcPts val="392"/>
              </a:spcBef>
              <a:spcAft>
                <a:spcPts val="0"/>
              </a:spcAft>
              <a:buSzPct val="100000"/>
              <a:buNone/>
            </a:pPr>
            <a:endParaRPr sz="2900" dirty="0">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100000"/>
              </a:lnSpc>
              <a:spcBef>
                <a:spcPts val="392"/>
              </a:spcBef>
              <a:spcAft>
                <a:spcPts val="0"/>
              </a:spcAft>
              <a:buSzPct val="100000"/>
              <a:buFont typeface="Noto Sans Symbols"/>
              <a:buChar char="✔"/>
            </a:pPr>
            <a:r>
              <a:rPr lang="en-US" sz="2900" b="1" dirty="0">
                <a:latin typeface="Times New Roman" panose="02020603050405020304" pitchFamily="18" charset="0"/>
                <a:ea typeface="Times New Roman"/>
                <a:cs typeface="Times New Roman" panose="02020603050405020304" pitchFamily="18" charset="0"/>
                <a:sym typeface="Times New Roman"/>
              </a:rPr>
              <a:t>Real-Time Processing: </a:t>
            </a:r>
            <a:r>
              <a:rPr lang="en-US" sz="2900" dirty="0">
                <a:latin typeface="Times New Roman" panose="02020603050405020304" pitchFamily="18" charset="0"/>
                <a:ea typeface="Times New Roman"/>
                <a:cs typeface="Times New Roman" panose="02020603050405020304" pitchFamily="18" charset="0"/>
                <a:sym typeface="Times New Roman"/>
              </a:rPr>
              <a:t>Processes 30+ frames per second, No manual intervention required, Immediate feedback generation.</a:t>
            </a:r>
            <a:endParaRPr sz="2900" dirty="0">
              <a:latin typeface="Times New Roman" panose="02020603050405020304" pitchFamily="18" charset="0"/>
              <a:cs typeface="Times New Roman" panose="02020603050405020304" pitchFamily="18" charset="0"/>
            </a:endParaRPr>
          </a:p>
          <a:p>
            <a:pPr marL="285750" lvl="0" indent="-161290" algn="just" rtl="0">
              <a:lnSpc>
                <a:spcPct val="100000"/>
              </a:lnSpc>
              <a:spcBef>
                <a:spcPts val="392"/>
              </a:spcBef>
              <a:spcAft>
                <a:spcPts val="0"/>
              </a:spcAft>
              <a:buSzPct val="100000"/>
              <a:buFont typeface="Noto Sans Symbols"/>
              <a:buNone/>
            </a:pPr>
            <a:endParaRPr sz="2900" dirty="0">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100000"/>
              </a:lnSpc>
              <a:spcBef>
                <a:spcPts val="392"/>
              </a:spcBef>
              <a:spcAft>
                <a:spcPts val="0"/>
              </a:spcAft>
              <a:buSzPct val="100000"/>
              <a:buFont typeface="Noto Sans Symbols"/>
              <a:buChar char="✔"/>
            </a:pPr>
            <a:r>
              <a:rPr lang="en-US" sz="2900" b="1" dirty="0">
                <a:latin typeface="Times New Roman" panose="02020603050405020304" pitchFamily="18" charset="0"/>
                <a:ea typeface="Times New Roman"/>
                <a:cs typeface="Times New Roman" panose="02020603050405020304" pitchFamily="18" charset="0"/>
                <a:sym typeface="Times New Roman"/>
              </a:rPr>
              <a:t>Robust Recognition: </a:t>
            </a:r>
            <a:r>
              <a:rPr lang="en-US" sz="2900" dirty="0">
                <a:latin typeface="Times New Roman" panose="02020603050405020304" pitchFamily="18" charset="0"/>
                <a:ea typeface="Times New Roman"/>
                <a:cs typeface="Times New Roman" panose="02020603050405020304" pitchFamily="18" charset="0"/>
                <a:sym typeface="Times New Roman"/>
              </a:rPr>
              <a:t>97% accuracy under normal conditions, Up to 99% accuracy with optimal settings, Works with dynamic gestures.</a:t>
            </a:r>
            <a:endParaRPr sz="2900" dirty="0">
              <a:latin typeface="Times New Roman" panose="02020603050405020304" pitchFamily="18" charset="0"/>
              <a:cs typeface="Times New Roman" panose="02020603050405020304" pitchFamily="18" charset="0"/>
            </a:endParaRPr>
          </a:p>
          <a:p>
            <a:pPr marL="285750" lvl="0" indent="-161290" algn="just" rtl="0">
              <a:lnSpc>
                <a:spcPct val="100000"/>
              </a:lnSpc>
              <a:spcBef>
                <a:spcPts val="392"/>
              </a:spcBef>
              <a:spcAft>
                <a:spcPts val="0"/>
              </a:spcAft>
              <a:buClr>
                <a:schemeClr val="dk1"/>
              </a:buClr>
              <a:buSzPct val="100000"/>
              <a:buFont typeface="Noto Sans Symbols"/>
              <a:buNone/>
            </a:pPr>
            <a:endParaRPr sz="2900" dirty="0">
              <a:latin typeface="Times New Roman" panose="02020603050405020304" pitchFamily="18" charset="0"/>
              <a:ea typeface="Times New Roman"/>
              <a:cs typeface="Times New Roman" panose="02020603050405020304" pitchFamily="18" charset="0"/>
              <a:sym typeface="Times New Roman"/>
            </a:endParaRPr>
          </a:p>
          <a:p>
            <a:pPr marL="285750" lvl="0" indent="-285750" algn="just" rtl="0">
              <a:lnSpc>
                <a:spcPct val="100000"/>
              </a:lnSpc>
              <a:spcBef>
                <a:spcPts val="392"/>
              </a:spcBef>
              <a:spcAft>
                <a:spcPts val="0"/>
              </a:spcAft>
              <a:buClr>
                <a:schemeClr val="dk1"/>
              </a:buClr>
              <a:buSzPct val="100000"/>
              <a:buFont typeface="Noto Sans Symbols"/>
              <a:buChar char="✔"/>
            </a:pPr>
            <a:r>
              <a:rPr lang="en-US" sz="2900" dirty="0">
                <a:latin typeface="Times New Roman" panose="02020603050405020304" pitchFamily="18" charset="0"/>
                <a:ea typeface="Times New Roman"/>
                <a:cs typeface="Times New Roman" panose="02020603050405020304" pitchFamily="18" charset="0"/>
                <a:sym typeface="Times New Roman"/>
              </a:rPr>
              <a:t> </a:t>
            </a:r>
            <a:r>
              <a:rPr lang="en-US" sz="2900" b="1" dirty="0">
                <a:latin typeface="Times New Roman" panose="02020603050405020304" pitchFamily="18" charset="0"/>
                <a:ea typeface="Times New Roman"/>
                <a:cs typeface="Times New Roman" panose="02020603050405020304" pitchFamily="18" charset="0"/>
                <a:sym typeface="Times New Roman"/>
              </a:rPr>
              <a:t>Efficient Processing: </a:t>
            </a:r>
            <a:r>
              <a:rPr lang="en-US" sz="2900" dirty="0">
                <a:latin typeface="Times New Roman" panose="02020603050405020304" pitchFamily="18" charset="0"/>
                <a:ea typeface="Times New Roman"/>
                <a:cs typeface="Times New Roman" panose="02020603050405020304" pitchFamily="18" charset="0"/>
                <a:sym typeface="Times New Roman"/>
              </a:rPr>
              <a:t>Dual-path processing approach, Simultaneous text and speech output.</a:t>
            </a:r>
            <a:endParaRPr sz="2900" dirty="0">
              <a:latin typeface="Times New Roman" panose="02020603050405020304" pitchFamily="18" charset="0"/>
              <a:cs typeface="Times New Roman" panose="02020603050405020304" pitchFamily="18" charset="0"/>
            </a:endParaRPr>
          </a:p>
          <a:p>
            <a:pPr marL="285750" lvl="0" indent="-161290" algn="l" rtl="0">
              <a:lnSpc>
                <a:spcPct val="100000"/>
              </a:lnSpc>
              <a:spcBef>
                <a:spcPts val="392"/>
              </a:spcBef>
              <a:spcAft>
                <a:spcPts val="0"/>
              </a:spcAft>
              <a:buClr>
                <a:schemeClr val="dk1"/>
              </a:buClr>
              <a:buSzPct val="100000"/>
              <a:buFont typeface="Noto Sans Symbols"/>
              <a:buNone/>
            </a:pPr>
            <a:endParaRPr sz="2800" dirty="0">
              <a:latin typeface="Times New Roman"/>
              <a:ea typeface="Times New Roman"/>
              <a:cs typeface="Times New Roman"/>
              <a:sym typeface="Times New Roman"/>
            </a:endParaRPr>
          </a:p>
          <a:p>
            <a:pPr marL="0" lvl="0" indent="0" algn="l" rtl="0">
              <a:lnSpc>
                <a:spcPct val="100000"/>
              </a:lnSpc>
              <a:spcBef>
                <a:spcPts val="392"/>
              </a:spcBef>
              <a:spcAft>
                <a:spcPts val="0"/>
              </a:spcAft>
              <a:buClr>
                <a:schemeClr val="dk1"/>
              </a:buClr>
              <a:buSzPct val="100000"/>
              <a:buNone/>
            </a:pPr>
            <a:endParaRPr sz="2800" dirty="0">
              <a:latin typeface="Times New Roman"/>
              <a:ea typeface="Times New Roman"/>
              <a:cs typeface="Times New Roman"/>
              <a:sym typeface="Times New Roman"/>
            </a:endParaRPr>
          </a:p>
          <a:p>
            <a:pPr marL="0" lvl="0" indent="0" algn="l" rtl="0">
              <a:lnSpc>
                <a:spcPct val="100000"/>
              </a:lnSpc>
              <a:spcBef>
                <a:spcPts val="392"/>
              </a:spcBef>
              <a:spcAft>
                <a:spcPts val="0"/>
              </a:spcAft>
              <a:buClr>
                <a:schemeClr val="dk1"/>
              </a:buClr>
              <a:buSzPct val="100000"/>
              <a:buNone/>
            </a:pPr>
            <a:endParaRPr sz="2800" dirty="0">
              <a:latin typeface="Times New Roman"/>
              <a:ea typeface="Times New Roman"/>
              <a:cs typeface="Times New Roman"/>
              <a:sym typeface="Times New Roman"/>
            </a:endParaRPr>
          </a:p>
        </p:txBody>
      </p:sp>
      <p:sp>
        <p:nvSpPr>
          <p:cNvPr id="96" name="Google Shape;9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97" name="Google Shape;9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98" name="Google Shape;9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2"/>
          <p:cNvSpPr txBox="1">
            <a:spLocks noGrp="1"/>
          </p:cNvSpPr>
          <p:nvPr>
            <p:ph type="title"/>
          </p:nvPr>
        </p:nvSpPr>
        <p:spPr>
          <a:xfrm>
            <a:off x="2133600" y="-73896"/>
            <a:ext cx="6477000" cy="1216896"/>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3400" b="1">
                <a:latin typeface="Times New Roman"/>
                <a:ea typeface="Times New Roman"/>
                <a:cs typeface="Times New Roman"/>
                <a:sym typeface="Times New Roman"/>
              </a:rPr>
              <a:t>ARCHITECTURE OF </a:t>
            </a:r>
            <a:r>
              <a:rPr lang="en-US" sz="4300" b="1">
                <a:latin typeface="Times New Roman"/>
                <a:ea typeface="Times New Roman"/>
                <a:cs typeface="Times New Roman"/>
                <a:sym typeface="Times New Roman"/>
              </a:rPr>
              <a:t>IncludeEd</a:t>
            </a:r>
            <a:endParaRPr sz="4300" b="1">
              <a:latin typeface="Times New Roman"/>
              <a:ea typeface="Times New Roman"/>
              <a:cs typeface="Times New Roman"/>
              <a:sym typeface="Times New Roman"/>
            </a:endParaRPr>
          </a:p>
        </p:txBody>
      </p:sp>
      <p:sp>
        <p:nvSpPr>
          <p:cNvPr id="104" name="Google Shape;10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105" name="Google Shape;105;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06" name="Google Shape;106;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107" name="Google Shape;107;p12"/>
          <p:cNvSpPr txBox="1"/>
          <p:nvPr/>
        </p:nvSpPr>
        <p:spPr>
          <a:xfrm>
            <a:off x="2572000" y="3219450"/>
            <a:ext cx="4000000" cy="5105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pic>
        <p:nvPicPr>
          <p:cNvPr id="108" name="Google Shape;108;p12" descr="Generated image"/>
          <p:cNvPicPr preferRelativeResize="0"/>
          <p:nvPr/>
        </p:nvPicPr>
        <p:blipFill rotWithShape="1">
          <a:blip r:embed="rId3">
            <a:duotone>
              <a:prstClr val="black"/>
              <a:schemeClr val="accent2">
                <a:tint val="45000"/>
                <a:satMod val="400000"/>
              </a:schemeClr>
            </a:duotone>
            <a:alphaModFix amt="70000"/>
          </a:blip>
          <a:srcRect t="33541" b="32505"/>
          <a:stretch/>
        </p:blipFill>
        <p:spPr>
          <a:xfrm>
            <a:off x="511277" y="1501570"/>
            <a:ext cx="5240594" cy="1216896"/>
          </a:xfrm>
          <a:prstGeom prst="rect">
            <a:avLst/>
          </a:prstGeom>
          <a:noFill/>
          <a:ln>
            <a:noFill/>
          </a:ln>
        </p:spPr>
      </p:pic>
      <p:pic>
        <p:nvPicPr>
          <p:cNvPr id="109" name="Google Shape;109;p12"/>
          <p:cNvPicPr preferRelativeResize="0"/>
          <p:nvPr/>
        </p:nvPicPr>
        <p:blipFill rotWithShape="1">
          <a:blip r:embed="rId4">
            <a:alphaModFix amt="70000"/>
            <a:duotone>
              <a:schemeClr val="accent4">
                <a:shade val="45000"/>
                <a:satMod val="135000"/>
              </a:schemeClr>
              <a:prstClr val="white"/>
            </a:duotone>
            <a:extLst>
              <a:ext uri="{BEBA8EAE-BF5A-486C-A8C5-ECC9F3942E4B}">
                <a14:imgProps xmlns:a14="http://schemas.microsoft.com/office/drawing/2010/main">
                  <a14:imgLayer r:embed="rId5">
                    <a14:imgEffect>
                      <a14:colorTemperature colorTemp="7200"/>
                    </a14:imgEffect>
                    <a14:imgEffect>
                      <a14:saturation sat="400000"/>
                    </a14:imgEffect>
                  </a14:imgLayer>
                </a14:imgProps>
              </a:ext>
            </a:extLst>
          </a:blip>
          <a:srcRect t="2204" b="20697"/>
          <a:stretch/>
        </p:blipFill>
        <p:spPr>
          <a:xfrm>
            <a:off x="356419" y="3077036"/>
            <a:ext cx="5663381" cy="2279393"/>
          </a:xfrm>
          <a:prstGeom prst="rect">
            <a:avLst/>
          </a:prstGeom>
          <a:gradFill>
            <a:gsLst>
              <a:gs pos="0">
                <a:schemeClr val="accent1">
                  <a:lumMod val="5000"/>
                  <a:lumOff val="95000"/>
                  <a:alpha val="9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pic>
      <p:pic>
        <p:nvPicPr>
          <p:cNvPr id="110" name="Google Shape;110;p12" descr="Generated image"/>
          <p:cNvPicPr preferRelativeResize="0"/>
          <p:nvPr/>
        </p:nvPicPr>
        <p:blipFill rotWithShape="1">
          <a:blip r:embed="rId6">
            <a:alphaModFix/>
            <a:duotone>
              <a:prstClr val="black"/>
              <a:schemeClr val="tx2">
                <a:tint val="45000"/>
                <a:satMod val="400000"/>
              </a:schemeClr>
            </a:duotone>
          </a:blip>
          <a:srcRect l="12805" r="4020" b="4230"/>
          <a:stretch/>
        </p:blipFill>
        <p:spPr>
          <a:xfrm>
            <a:off x="6093542" y="1443037"/>
            <a:ext cx="2804652" cy="39133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3"/>
          <p:cNvSpPr txBox="1">
            <a:spLocks noGrp="1"/>
          </p:cNvSpPr>
          <p:nvPr>
            <p:ph type="title"/>
          </p:nvPr>
        </p:nvSpPr>
        <p:spPr>
          <a:xfrm>
            <a:off x="457200" y="233829"/>
            <a:ext cx="82296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         Methodology</a:t>
            </a:r>
            <a:endParaRPr b="1" dirty="0">
              <a:latin typeface="Times New Roman"/>
              <a:ea typeface="Times New Roman"/>
              <a:cs typeface="Times New Roman"/>
              <a:sym typeface="Times New Roman"/>
            </a:endParaRPr>
          </a:p>
        </p:txBody>
      </p:sp>
      <p:sp>
        <p:nvSpPr>
          <p:cNvPr id="117" name="Google Shape;11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118" name="Google Shape;11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Computer Science and Engineering</a:t>
            </a:r>
            <a:endParaRPr dirty="0"/>
          </a:p>
        </p:txBody>
      </p:sp>
      <p:sp>
        <p:nvSpPr>
          <p:cNvPr id="119" name="Google Shape;11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20" name="Google Shape;120;p13"/>
          <p:cNvSpPr txBox="1"/>
          <p:nvPr/>
        </p:nvSpPr>
        <p:spPr>
          <a:xfrm>
            <a:off x="2819400" y="4176249"/>
            <a:ext cx="160020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Calibri"/>
                <a:ea typeface="Calibri"/>
                <a:cs typeface="Calibri"/>
                <a:sym typeface="Calibri"/>
              </a:rPr>
              <a:t>DISTURBANCE</a:t>
            </a:r>
            <a:endParaRPr sz="1600" b="0" i="0" u="none" strike="noStrike" cap="none">
              <a:solidFill>
                <a:schemeClr val="lt1"/>
              </a:solidFill>
              <a:latin typeface="Calibri"/>
              <a:ea typeface="Calibri"/>
              <a:cs typeface="Calibri"/>
              <a:sym typeface="Calibri"/>
            </a:endParaRPr>
          </a:p>
        </p:txBody>
      </p:sp>
      <p:cxnSp>
        <p:nvCxnSpPr>
          <p:cNvPr id="121" name="Google Shape;121;p13"/>
          <p:cNvCxnSpPr/>
          <p:nvPr/>
        </p:nvCxnSpPr>
        <p:spPr>
          <a:xfrm rot="10800000" flipH="1">
            <a:off x="3716020" y="3728797"/>
            <a:ext cx="304800" cy="447452"/>
          </a:xfrm>
          <a:prstGeom prst="straightConnector1">
            <a:avLst/>
          </a:prstGeom>
          <a:noFill/>
          <a:ln w="28575" cap="flat" cmpd="sng">
            <a:solidFill>
              <a:schemeClr val="lt1"/>
            </a:solidFill>
            <a:prstDash val="solid"/>
            <a:round/>
            <a:headEnd type="none" w="sm" len="sm"/>
            <a:tailEnd type="triangle" w="med" len="med"/>
          </a:ln>
        </p:spPr>
      </p:cxnSp>
      <p:sp>
        <p:nvSpPr>
          <p:cNvPr id="122" name="Google Shape;122;p13"/>
          <p:cNvSpPr txBox="1">
            <a:spLocks noGrp="1"/>
          </p:cNvSpPr>
          <p:nvPr>
            <p:ph type="body" idx="1"/>
          </p:nvPr>
        </p:nvSpPr>
        <p:spPr>
          <a:xfrm>
            <a:off x="457200" y="1600201"/>
            <a:ext cx="8229600" cy="464122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rgbClr val="1F2328"/>
              </a:buClr>
              <a:buSzPts val="1600"/>
              <a:buNone/>
            </a:pPr>
            <a:r>
              <a:rPr lang="en-US" sz="1800" b="1" dirty="0">
                <a:solidFill>
                  <a:srgbClr val="1F2328"/>
                </a:solidFill>
                <a:latin typeface="Times New Roman"/>
                <a:ea typeface="Times New Roman"/>
                <a:cs typeface="Times New Roman"/>
                <a:sym typeface="Times New Roman"/>
              </a:rPr>
              <a:t>Technologies and Libraries used:</a:t>
            </a:r>
            <a:endParaRPr sz="1800" b="1" dirty="0">
              <a:latin typeface="Times New Roman"/>
              <a:ea typeface="Times New Roman"/>
              <a:cs typeface="Times New Roman"/>
              <a:sym typeface="Times New Roman"/>
            </a:endParaRPr>
          </a:p>
          <a:p>
            <a:pPr marL="285750" lvl="0" indent="-285750" algn="just" rtl="0">
              <a:lnSpc>
                <a:spcPct val="150000"/>
              </a:lnSpc>
              <a:spcBef>
                <a:spcPts val="320"/>
              </a:spcBef>
              <a:spcAft>
                <a:spcPts val="0"/>
              </a:spcAft>
              <a:buClr>
                <a:srgbClr val="1F2328"/>
              </a:buClr>
              <a:buSzPts val="2646"/>
              <a:buChar char="•"/>
            </a:pPr>
            <a:r>
              <a:rPr lang="en-US" sz="1800" dirty="0">
                <a:solidFill>
                  <a:srgbClr val="1F2328"/>
                </a:solidFill>
                <a:latin typeface="Times New Roman"/>
                <a:ea typeface="Times New Roman"/>
                <a:cs typeface="Times New Roman"/>
                <a:sym typeface="Times New Roman"/>
              </a:rPr>
              <a:t>Python 3.9.5: as the base programming language</a:t>
            </a:r>
            <a:endParaRPr dirty="0"/>
          </a:p>
          <a:p>
            <a:pPr marL="285750" lvl="0" indent="-285750" algn="just" rtl="0">
              <a:lnSpc>
                <a:spcPct val="150000"/>
              </a:lnSpc>
              <a:spcBef>
                <a:spcPts val="320"/>
              </a:spcBef>
              <a:spcAft>
                <a:spcPts val="0"/>
              </a:spcAft>
              <a:buClr>
                <a:srgbClr val="1F2328"/>
              </a:buClr>
              <a:buSzPts val="2646"/>
              <a:buChar char="•"/>
            </a:pPr>
            <a:r>
              <a:rPr lang="en-US" sz="1800" dirty="0">
                <a:solidFill>
                  <a:srgbClr val="1F2328"/>
                </a:solidFill>
                <a:latin typeface="Times New Roman"/>
                <a:ea typeface="Times New Roman"/>
                <a:cs typeface="Times New Roman"/>
                <a:sym typeface="Times New Roman"/>
              </a:rPr>
              <a:t>OpenCV: for computer vision and image processing</a:t>
            </a:r>
            <a:endParaRPr dirty="0"/>
          </a:p>
          <a:p>
            <a:pPr marL="285750" lvl="0" indent="-285750" algn="just" rtl="0">
              <a:lnSpc>
                <a:spcPct val="150000"/>
              </a:lnSpc>
              <a:spcBef>
                <a:spcPts val="320"/>
              </a:spcBef>
              <a:spcAft>
                <a:spcPts val="0"/>
              </a:spcAft>
              <a:buClr>
                <a:srgbClr val="1F2328"/>
              </a:buClr>
              <a:buSzPts val="2646"/>
              <a:buChar char="•"/>
            </a:pPr>
            <a:r>
              <a:rPr lang="en-US" sz="1800" dirty="0" err="1">
                <a:solidFill>
                  <a:srgbClr val="1F2328"/>
                </a:solidFill>
                <a:latin typeface="Times New Roman"/>
                <a:ea typeface="Times New Roman"/>
                <a:cs typeface="Times New Roman"/>
                <a:sym typeface="Times New Roman"/>
              </a:rPr>
              <a:t>MediaPipe</a:t>
            </a:r>
            <a:r>
              <a:rPr lang="en-US" sz="1800" dirty="0">
                <a:solidFill>
                  <a:srgbClr val="1F2328"/>
                </a:solidFill>
                <a:latin typeface="Times New Roman"/>
                <a:ea typeface="Times New Roman"/>
                <a:cs typeface="Times New Roman"/>
                <a:sym typeface="Times New Roman"/>
              </a:rPr>
              <a:t>: for hand detection and tracking</a:t>
            </a:r>
            <a:endParaRPr dirty="0"/>
          </a:p>
          <a:p>
            <a:pPr marL="285750" lvl="0" indent="-285750" algn="just" rtl="0">
              <a:lnSpc>
                <a:spcPct val="150000"/>
              </a:lnSpc>
              <a:spcBef>
                <a:spcPts val="320"/>
              </a:spcBef>
              <a:spcAft>
                <a:spcPts val="0"/>
              </a:spcAft>
              <a:buClr>
                <a:srgbClr val="1F2328"/>
              </a:buClr>
              <a:buSzPts val="2646"/>
              <a:buChar char="•"/>
            </a:pPr>
            <a:r>
              <a:rPr lang="en-US" sz="1800" dirty="0">
                <a:solidFill>
                  <a:srgbClr val="1F2328"/>
                </a:solidFill>
                <a:latin typeface="Times New Roman"/>
                <a:ea typeface="Times New Roman"/>
                <a:cs typeface="Times New Roman"/>
                <a:sym typeface="Times New Roman"/>
              </a:rPr>
              <a:t>TensorFlow: for deep learning infrastructure</a:t>
            </a:r>
            <a:endParaRPr dirty="0"/>
          </a:p>
          <a:p>
            <a:pPr marL="285750" lvl="0" indent="-285750" algn="just" rtl="0">
              <a:lnSpc>
                <a:spcPct val="150000"/>
              </a:lnSpc>
              <a:spcBef>
                <a:spcPts val="320"/>
              </a:spcBef>
              <a:spcAft>
                <a:spcPts val="0"/>
              </a:spcAft>
              <a:buClr>
                <a:srgbClr val="1F2328"/>
              </a:buClr>
              <a:buSzPts val="2646"/>
              <a:buChar char="•"/>
            </a:pPr>
            <a:r>
              <a:rPr lang="en-US" sz="1800" dirty="0" err="1">
                <a:solidFill>
                  <a:srgbClr val="1F2328"/>
                </a:solidFill>
                <a:latin typeface="Times New Roman"/>
                <a:ea typeface="Times New Roman"/>
                <a:cs typeface="Times New Roman"/>
                <a:sym typeface="Times New Roman"/>
              </a:rPr>
              <a:t>Keras</a:t>
            </a:r>
            <a:r>
              <a:rPr lang="en-US" sz="1800" dirty="0">
                <a:solidFill>
                  <a:srgbClr val="1F2328"/>
                </a:solidFill>
                <a:latin typeface="Times New Roman"/>
                <a:ea typeface="Times New Roman"/>
                <a:cs typeface="Times New Roman"/>
                <a:sym typeface="Times New Roman"/>
              </a:rPr>
              <a:t>: for neural network implementation</a:t>
            </a:r>
            <a:endParaRPr dirty="0"/>
          </a:p>
          <a:p>
            <a:pPr marL="285750" lvl="0" indent="-285750" algn="just" rtl="0">
              <a:lnSpc>
                <a:spcPct val="150000"/>
              </a:lnSpc>
              <a:spcBef>
                <a:spcPts val="320"/>
              </a:spcBef>
              <a:spcAft>
                <a:spcPts val="0"/>
              </a:spcAft>
              <a:buClr>
                <a:srgbClr val="1F2328"/>
              </a:buClr>
              <a:buSzPts val="2646"/>
              <a:buChar char="•"/>
            </a:pPr>
            <a:r>
              <a:rPr lang="en-US" sz="1800" dirty="0">
                <a:solidFill>
                  <a:srgbClr val="1F2328"/>
                </a:solidFill>
                <a:latin typeface="Times New Roman"/>
                <a:ea typeface="Times New Roman"/>
                <a:cs typeface="Times New Roman"/>
                <a:sym typeface="Times New Roman"/>
              </a:rPr>
              <a:t>NumPy: for numerical computations</a:t>
            </a:r>
            <a:endParaRPr dirty="0"/>
          </a:p>
          <a:p>
            <a:pPr marL="285750" lvl="0" indent="-285750" algn="just" rtl="0">
              <a:lnSpc>
                <a:spcPct val="150000"/>
              </a:lnSpc>
              <a:spcBef>
                <a:spcPts val="320"/>
              </a:spcBef>
              <a:spcAft>
                <a:spcPts val="0"/>
              </a:spcAft>
              <a:buClr>
                <a:srgbClr val="1F2328"/>
              </a:buClr>
              <a:buSzPts val="2646"/>
              <a:buChar char="•"/>
            </a:pPr>
            <a:r>
              <a:rPr lang="en-US" sz="1800" dirty="0">
                <a:solidFill>
                  <a:srgbClr val="1F2328"/>
                </a:solidFill>
                <a:latin typeface="Times New Roman"/>
                <a:ea typeface="Times New Roman"/>
                <a:cs typeface="Times New Roman"/>
                <a:sym typeface="Times New Roman"/>
              </a:rPr>
              <a:t>Pyttsx3: for text-to-speech conversion </a:t>
            </a:r>
            <a:endParaRPr dirty="0"/>
          </a:p>
          <a:p>
            <a:pPr marL="0" lvl="0" indent="0" algn="l" rtl="0">
              <a:lnSpc>
                <a:spcPct val="150000"/>
              </a:lnSpc>
              <a:spcBef>
                <a:spcPts val="320"/>
              </a:spcBef>
              <a:spcAft>
                <a:spcPts val="0"/>
              </a:spcAft>
              <a:buClr>
                <a:srgbClr val="1F2328"/>
              </a:buClr>
              <a:buSzPts val="1764"/>
              <a:buNone/>
            </a:pPr>
            <a:endParaRPr sz="1200" dirty="0">
              <a:solidFill>
                <a:srgbClr val="1F2328"/>
              </a:solidFill>
            </a:endParaRPr>
          </a:p>
          <a:p>
            <a:pPr marL="0" lvl="0" indent="0" algn="l" rtl="0">
              <a:lnSpc>
                <a:spcPct val="100000"/>
              </a:lnSpc>
              <a:spcBef>
                <a:spcPts val="640"/>
              </a:spcBef>
              <a:spcAft>
                <a:spcPts val="0"/>
              </a:spcAft>
              <a:buClr>
                <a:schemeClr val="dk1"/>
              </a:buClr>
              <a:buSzPts val="32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57D4B-8565-2B93-9DA8-222E381673AA}"/>
              </a:ext>
            </a:extLst>
          </p:cNvPr>
          <p:cNvSpPr>
            <a:spLocks noGrp="1"/>
          </p:cNvSpPr>
          <p:nvPr>
            <p:ph type="title"/>
          </p:nvPr>
        </p:nvSpPr>
        <p:spPr/>
        <p:txBody>
          <a:bodyPr/>
          <a:lstStyle/>
          <a:p>
            <a:r>
              <a:rPr lang="en-IN" dirty="0"/>
              <a:t>              </a:t>
            </a:r>
            <a:r>
              <a:rPr lang="en-IN" b="1" dirty="0">
                <a:latin typeface="Times New Roman" panose="02020603050405020304" pitchFamily="18" charset="0"/>
                <a:cs typeface="Times New Roman" panose="02020603050405020304" pitchFamily="18" charset="0"/>
              </a:rPr>
              <a:t>Module Description</a:t>
            </a:r>
          </a:p>
        </p:txBody>
      </p:sp>
      <p:sp>
        <p:nvSpPr>
          <p:cNvPr id="3" name="Text Placeholder 2">
            <a:extLst>
              <a:ext uri="{FF2B5EF4-FFF2-40B4-BE49-F238E27FC236}">
                <a16:creationId xmlns:a16="http://schemas.microsoft.com/office/drawing/2014/main" id="{6C726DEB-8B18-895C-39D6-D00519C37CBA}"/>
              </a:ext>
            </a:extLst>
          </p:cNvPr>
          <p:cNvSpPr>
            <a:spLocks noGrp="1"/>
          </p:cNvSpPr>
          <p:nvPr>
            <p:ph type="body" idx="1"/>
          </p:nvPr>
        </p:nvSpPr>
        <p:spPr/>
        <p:txBody>
          <a:bodyPr>
            <a:normAutofit lnSpcReduction="10000"/>
          </a:bodyPr>
          <a:lstStyle/>
          <a:p>
            <a:pPr indent="-336550" algn="just">
              <a:lnSpc>
                <a:spcPct val="130000"/>
              </a:lnSpc>
              <a:buSzPct val="100000"/>
              <a:buFont typeface="Noto Sans Symbols"/>
              <a:buChar char="✔"/>
            </a:pPr>
            <a:r>
              <a:rPr lang="en-IN" sz="2000" dirty="0">
                <a:latin typeface="Times New Roman"/>
                <a:cs typeface="Times New Roman"/>
              </a:rPr>
              <a:t>Detection of hands is carried out using </a:t>
            </a:r>
            <a:r>
              <a:rPr lang="en-IN" sz="2000" dirty="0" err="1">
                <a:latin typeface="Times New Roman"/>
                <a:cs typeface="Times New Roman"/>
              </a:rPr>
              <a:t>mediapipe</a:t>
            </a:r>
            <a:endParaRPr lang="en-IN" sz="2000" dirty="0">
              <a:latin typeface="Times New Roman"/>
              <a:cs typeface="Times New Roman"/>
            </a:endParaRPr>
          </a:p>
          <a:p>
            <a:pPr indent="-336550" algn="just">
              <a:lnSpc>
                <a:spcPct val="130000"/>
              </a:lnSpc>
              <a:buSzPct val="100000"/>
              <a:buFont typeface="Noto Sans Symbols"/>
              <a:buChar char="✔"/>
            </a:pPr>
            <a:r>
              <a:rPr lang="en-IN" sz="2000" dirty="0">
                <a:latin typeface="Times New Roman"/>
                <a:cs typeface="Times New Roman"/>
              </a:rPr>
              <a:t>Trained model, cnn8grps_rad1_model.h5, classifies ASL into 8 groups.</a:t>
            </a:r>
          </a:p>
          <a:p>
            <a:pPr indent="-336550" algn="just">
              <a:lnSpc>
                <a:spcPct val="130000"/>
              </a:lnSpc>
              <a:buSzPct val="100000"/>
              <a:buFont typeface="Noto Sans Symbols"/>
              <a:buChar char="✔"/>
            </a:pPr>
            <a:r>
              <a:rPr lang="en-IN" sz="2000" dirty="0">
                <a:latin typeface="Times New Roman"/>
                <a:cs typeface="Times New Roman"/>
              </a:rPr>
              <a:t>CNN, pooling, fully connected layer extracts important features and marks skeleton extraction points.</a:t>
            </a:r>
          </a:p>
          <a:p>
            <a:pPr indent="-336550" algn="just">
              <a:lnSpc>
                <a:spcPct val="130000"/>
              </a:lnSpc>
              <a:buSzPct val="100000"/>
              <a:buFont typeface="Noto Sans Symbols"/>
              <a:buChar char="✔"/>
            </a:pPr>
            <a:r>
              <a:rPr lang="en-IN" sz="2000" dirty="0">
                <a:latin typeface="Times New Roman"/>
                <a:cs typeface="Times New Roman"/>
              </a:rPr>
              <a:t>Dual path processing is carried out- if simple, applies CNN directly. If it is more  complex, it uses skeleton point extraction.</a:t>
            </a:r>
          </a:p>
          <a:p>
            <a:pPr indent="-336550" algn="just">
              <a:lnSpc>
                <a:spcPct val="130000"/>
              </a:lnSpc>
              <a:buSzPct val="100000"/>
              <a:buFont typeface="Noto Sans Symbols"/>
              <a:buChar char="✔"/>
            </a:pPr>
            <a:r>
              <a:rPr lang="en-IN" sz="2000" dirty="0">
                <a:latin typeface="Times New Roman"/>
                <a:cs typeface="Times New Roman"/>
              </a:rPr>
              <a:t>Preprocessing includes </a:t>
            </a:r>
            <a:r>
              <a:rPr lang="en-IN" sz="2000" dirty="0" err="1">
                <a:latin typeface="Times New Roman"/>
                <a:cs typeface="Times New Roman"/>
              </a:rPr>
              <a:t>grayscaling</a:t>
            </a:r>
            <a:r>
              <a:rPr lang="en-IN" sz="2000" dirty="0">
                <a:latin typeface="Times New Roman"/>
                <a:cs typeface="Times New Roman"/>
              </a:rPr>
              <a:t>, applying gaussian blur, normalization and ROI.</a:t>
            </a:r>
          </a:p>
          <a:p>
            <a:pPr indent="-336550" algn="just">
              <a:lnSpc>
                <a:spcPct val="130000"/>
              </a:lnSpc>
              <a:buSzPct val="100000"/>
              <a:buFont typeface="Noto Sans Symbols"/>
              <a:buChar char="✔"/>
            </a:pPr>
            <a:r>
              <a:rPr lang="en-IN" sz="2000" dirty="0" err="1">
                <a:latin typeface="Times New Roman"/>
                <a:cs typeface="Times New Roman"/>
              </a:rPr>
              <a:t>Pyenchant</a:t>
            </a:r>
            <a:r>
              <a:rPr lang="en-IN" sz="2000" dirty="0">
                <a:latin typeface="Times New Roman"/>
                <a:cs typeface="Times New Roman"/>
              </a:rPr>
              <a:t> helps correct spellings and provides suggestions.</a:t>
            </a:r>
          </a:p>
          <a:p>
            <a:pPr indent="-336550" algn="just">
              <a:lnSpc>
                <a:spcPct val="130000"/>
              </a:lnSpc>
              <a:buSzPct val="100000"/>
              <a:buFont typeface="Noto Sans Symbols"/>
              <a:buChar char="✔"/>
            </a:pPr>
            <a:r>
              <a:rPr lang="en-IN" sz="2000" dirty="0">
                <a:latin typeface="Times New Roman"/>
                <a:cs typeface="Times New Roman"/>
              </a:rPr>
              <a:t>The output is generated in both text and speech format. Usage of pyttsx3 enables control of volume as well.</a:t>
            </a:r>
          </a:p>
          <a:p>
            <a:endParaRPr lang="en-IN" dirty="0"/>
          </a:p>
        </p:txBody>
      </p:sp>
      <p:sp>
        <p:nvSpPr>
          <p:cNvPr id="4" name="Slide Number Placeholder 3">
            <a:extLst>
              <a:ext uri="{FF2B5EF4-FFF2-40B4-BE49-F238E27FC236}">
                <a16:creationId xmlns:a16="http://schemas.microsoft.com/office/drawing/2014/main" id="{4C81AE79-EF65-2602-2D22-FC39BEF67F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TextBox 4">
            <a:extLst>
              <a:ext uri="{FF2B5EF4-FFF2-40B4-BE49-F238E27FC236}">
                <a16:creationId xmlns:a16="http://schemas.microsoft.com/office/drawing/2014/main" id="{4E49A8F2-5064-1A97-91F5-A074CB2D854C}"/>
              </a:ext>
            </a:extLst>
          </p:cNvPr>
          <p:cNvSpPr txBox="1"/>
          <p:nvPr/>
        </p:nvSpPr>
        <p:spPr>
          <a:xfrm>
            <a:off x="3097161" y="6320343"/>
            <a:ext cx="2792361" cy="677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888888"/>
                </a:solidFill>
                <a:effectLst/>
                <a:uLnTx/>
                <a:uFillTx/>
                <a:latin typeface="Calibri"/>
                <a:ea typeface="Calibri"/>
                <a:cs typeface="Calibri"/>
                <a:sym typeface="Calibri"/>
              </a:rPr>
              <a:t>Department of Computer Science and Engineering</a:t>
            </a:r>
          </a:p>
          <a:p>
            <a:endParaRPr lang="en-IN" dirty="0"/>
          </a:p>
        </p:txBody>
      </p:sp>
      <p:sp>
        <p:nvSpPr>
          <p:cNvPr id="7" name="TextBox 6">
            <a:extLst>
              <a:ext uri="{FF2B5EF4-FFF2-40B4-BE49-F238E27FC236}">
                <a16:creationId xmlns:a16="http://schemas.microsoft.com/office/drawing/2014/main" id="{1F675050-7DA0-EC40-0851-0761E537EACE}"/>
              </a:ext>
            </a:extLst>
          </p:cNvPr>
          <p:cNvSpPr txBox="1"/>
          <p:nvPr/>
        </p:nvSpPr>
        <p:spPr>
          <a:xfrm>
            <a:off x="457200" y="6356350"/>
            <a:ext cx="993059"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888888"/>
                </a:solidFill>
                <a:effectLst/>
                <a:uLnTx/>
                <a:uFillTx/>
                <a:latin typeface="Calibri"/>
                <a:ea typeface="Calibri"/>
                <a:cs typeface="Calibri"/>
                <a:sym typeface="Calibri"/>
              </a:rPr>
              <a:t>28-Apr-25</a:t>
            </a:r>
          </a:p>
          <a:p>
            <a:endParaRPr lang="en-IN" dirty="0"/>
          </a:p>
        </p:txBody>
      </p:sp>
    </p:spTree>
    <p:extLst>
      <p:ext uri="{BB962C8B-B14F-4D97-AF65-F5344CB8AC3E}">
        <p14:creationId xmlns:p14="http://schemas.microsoft.com/office/powerpoint/2010/main" val="2728136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a:p>
            <a:pPr marL="0" lvl="0" indent="0" algn="l" rtl="0">
              <a:lnSpc>
                <a:spcPct val="100000"/>
              </a:lnSpc>
              <a:spcBef>
                <a:spcPts val="0"/>
              </a:spcBef>
              <a:spcAft>
                <a:spcPts val="0"/>
              </a:spcAft>
              <a:buSzPts val="1400"/>
              <a:buNone/>
            </a:pPr>
            <a:endParaRPr dirty="0"/>
          </a:p>
        </p:txBody>
      </p:sp>
      <p:sp>
        <p:nvSpPr>
          <p:cNvPr id="128" name="Google Shape;12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129" name="Google Shape;12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130" name="Google Shape;130;p14"/>
          <p:cNvSpPr txBox="1"/>
          <p:nvPr/>
        </p:nvSpPr>
        <p:spPr>
          <a:xfrm>
            <a:off x="2091813" y="136525"/>
            <a:ext cx="6477000" cy="83297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4400"/>
              <a:buFont typeface="Times New Roman"/>
              <a:buNone/>
            </a:pPr>
            <a:r>
              <a:rPr lang="en-US" sz="4400" b="1" i="0" u="none" strike="noStrike" cap="none" dirty="0">
                <a:solidFill>
                  <a:schemeClr val="dk1"/>
                </a:solidFill>
                <a:latin typeface="Times New Roman"/>
                <a:ea typeface="Times New Roman"/>
                <a:cs typeface="Times New Roman"/>
                <a:sym typeface="Times New Roman"/>
              </a:rPr>
              <a:t>Results and Discussion</a:t>
            </a:r>
            <a:endParaRPr sz="4400" b="1" i="0" u="none" strike="noStrike" cap="none" dirty="0">
              <a:solidFill>
                <a:schemeClr val="dk1"/>
              </a:solidFill>
              <a:latin typeface="Times New Roman"/>
              <a:ea typeface="Times New Roman"/>
              <a:cs typeface="Times New Roman"/>
              <a:sym typeface="Times New Roman"/>
            </a:endParaRPr>
          </a:p>
        </p:txBody>
      </p:sp>
      <p:sp>
        <p:nvSpPr>
          <p:cNvPr id="131" name="Google Shape;131;p14"/>
          <p:cNvSpPr txBox="1"/>
          <p:nvPr/>
        </p:nvSpPr>
        <p:spPr>
          <a:xfrm>
            <a:off x="367549" y="1125188"/>
            <a:ext cx="8408902" cy="5150087"/>
          </a:xfrm>
          <a:prstGeom prst="rect">
            <a:avLst/>
          </a:prstGeom>
          <a:noFill/>
          <a:ln>
            <a:noFill/>
          </a:ln>
        </p:spPr>
        <p:txBody>
          <a:bodyPr spcFirstLastPara="1" wrap="square" lIns="91425" tIns="45700" rIns="91425" bIns="45700" anchor="t" anchorCtr="0">
            <a:spAutoFit/>
          </a:bodyPr>
          <a:lstStyle/>
          <a:p>
            <a:pPr marL="457200" lvl="0" indent="-336550" algn="just">
              <a:lnSpc>
                <a:spcPct val="130000"/>
              </a:lnSpc>
              <a:spcBef>
                <a:spcPts val="360"/>
              </a:spcBef>
              <a:buClr>
                <a:schemeClr val="dk1"/>
              </a:buClr>
              <a:buSzPct val="100000"/>
              <a:buFont typeface="Noto Sans Symbols"/>
              <a:buChar char="✔"/>
            </a:pPr>
            <a:r>
              <a:rPr lang="en-US" sz="2000" b="1" dirty="0">
                <a:solidFill>
                  <a:schemeClr val="dk1"/>
                </a:solidFill>
                <a:latin typeface="Times New Roman"/>
                <a:ea typeface="Calibri"/>
                <a:cs typeface="Times New Roman"/>
                <a:sym typeface="Times New Roman"/>
              </a:rPr>
              <a:t>Gesture Recognition Accuracy: </a:t>
            </a:r>
            <a:r>
              <a:rPr lang="en-US" sz="2000" dirty="0">
                <a:solidFill>
                  <a:schemeClr val="dk1"/>
                </a:solidFill>
                <a:latin typeface="Times New Roman"/>
                <a:ea typeface="Calibri"/>
                <a:cs typeface="Times New Roman"/>
                <a:sym typeface="Times New Roman"/>
              </a:rPr>
              <a:t>The system successfully recognized hand gestures with a high accuracy rate, imply efficiency of the implemented algorithms. </a:t>
            </a:r>
            <a:endParaRPr sz="2000" dirty="0">
              <a:solidFill>
                <a:schemeClr val="dk1"/>
              </a:solidFill>
              <a:latin typeface="Times New Roman"/>
              <a:ea typeface="Calibri"/>
              <a:cs typeface="Times New Roman"/>
              <a:sym typeface="Times New Roman"/>
            </a:endParaRPr>
          </a:p>
          <a:p>
            <a:pPr marL="457200" lvl="0" indent="-336550" algn="just">
              <a:lnSpc>
                <a:spcPct val="130000"/>
              </a:lnSpc>
              <a:spcBef>
                <a:spcPts val="360"/>
              </a:spcBef>
              <a:buClr>
                <a:schemeClr val="dk1"/>
              </a:buClr>
              <a:buSzPct val="100000"/>
              <a:buFont typeface="Noto Sans Symbols"/>
              <a:buChar char="✔"/>
            </a:pPr>
            <a:r>
              <a:rPr lang="en-US" sz="2000" b="1" dirty="0">
                <a:solidFill>
                  <a:schemeClr val="dk1"/>
                </a:solidFill>
                <a:latin typeface="Times New Roman"/>
                <a:ea typeface="Calibri"/>
                <a:cs typeface="Times New Roman"/>
                <a:sym typeface="Times New Roman"/>
              </a:rPr>
              <a:t>Real-Time Processing: </a:t>
            </a:r>
            <a:r>
              <a:rPr lang="en-US" sz="2000" dirty="0">
                <a:solidFill>
                  <a:schemeClr val="dk1"/>
                </a:solidFill>
                <a:latin typeface="Times New Roman"/>
                <a:ea typeface="Calibri"/>
                <a:cs typeface="Times New Roman"/>
                <a:sym typeface="Times New Roman"/>
              </a:rPr>
              <a:t>The system processed gestures in real-time with minimal lag. Future work will focus on optimizing performance.</a:t>
            </a:r>
            <a:endParaRPr sz="2000" dirty="0">
              <a:solidFill>
                <a:schemeClr val="dk1"/>
              </a:solidFill>
              <a:latin typeface="Times New Roman"/>
              <a:ea typeface="Calibri"/>
              <a:cs typeface="Times New Roman"/>
              <a:sym typeface="Calibri"/>
            </a:endParaRPr>
          </a:p>
          <a:p>
            <a:pPr marL="457200" lvl="0" indent="-336550" algn="just">
              <a:lnSpc>
                <a:spcPct val="130000"/>
              </a:lnSpc>
              <a:spcBef>
                <a:spcPts val="360"/>
              </a:spcBef>
              <a:buClr>
                <a:schemeClr val="dk1"/>
              </a:buClr>
              <a:buSzPct val="100000"/>
              <a:buFont typeface="Noto Sans Symbols"/>
              <a:buChar char="✔"/>
            </a:pPr>
            <a:r>
              <a:rPr lang="en-US" sz="2000" b="1" dirty="0">
                <a:solidFill>
                  <a:schemeClr val="dk1"/>
                </a:solidFill>
                <a:latin typeface="Times New Roman"/>
                <a:ea typeface="Calibri"/>
                <a:cs typeface="Times New Roman"/>
                <a:sym typeface="Times New Roman"/>
              </a:rPr>
              <a:t>User Feedback: </a:t>
            </a:r>
            <a:r>
              <a:rPr lang="en-US" sz="2000" dirty="0">
                <a:solidFill>
                  <a:schemeClr val="dk1"/>
                </a:solidFill>
                <a:latin typeface="Times New Roman"/>
                <a:ea typeface="Calibri"/>
                <a:cs typeface="Times New Roman"/>
                <a:sym typeface="Times New Roman"/>
              </a:rPr>
              <a:t>Initial testing with users from the deaf community if positive, with many expressing appreciation for the visual representation of sign language. </a:t>
            </a:r>
            <a:endParaRPr sz="2000" dirty="0">
              <a:solidFill>
                <a:schemeClr val="dk1"/>
              </a:solidFill>
              <a:latin typeface="Times New Roman"/>
              <a:ea typeface="Calibri"/>
              <a:cs typeface="Times New Roman"/>
              <a:sym typeface="Calibri"/>
            </a:endParaRPr>
          </a:p>
          <a:p>
            <a:pPr marL="457200" lvl="0" indent="-336550" algn="just">
              <a:lnSpc>
                <a:spcPct val="130000"/>
              </a:lnSpc>
              <a:spcBef>
                <a:spcPts val="360"/>
              </a:spcBef>
              <a:buClr>
                <a:schemeClr val="dk1"/>
              </a:buClr>
              <a:buSzPct val="100000"/>
              <a:buFont typeface="Noto Sans Symbols"/>
              <a:buChar char="✔"/>
            </a:pPr>
            <a:r>
              <a:rPr lang="en-US" sz="2000" b="1" dirty="0">
                <a:solidFill>
                  <a:schemeClr val="dk1"/>
                </a:solidFill>
                <a:latin typeface="Times New Roman"/>
                <a:ea typeface="Calibri"/>
                <a:cs typeface="Times New Roman"/>
                <a:sym typeface="Times New Roman"/>
              </a:rPr>
              <a:t>System Scalability: </a:t>
            </a:r>
            <a:r>
              <a:rPr lang="en-US" sz="2000" dirty="0">
                <a:solidFill>
                  <a:schemeClr val="dk1"/>
                </a:solidFill>
                <a:latin typeface="Times New Roman"/>
                <a:ea typeface="Calibri"/>
                <a:cs typeface="Times New Roman"/>
                <a:sym typeface="Times New Roman"/>
              </a:rPr>
              <a:t>The system can incorporate more sign languages and gestures. </a:t>
            </a:r>
            <a:endParaRPr sz="2000" dirty="0">
              <a:solidFill>
                <a:schemeClr val="dk1"/>
              </a:solidFill>
              <a:latin typeface="Times New Roman"/>
              <a:ea typeface="Calibri"/>
              <a:cs typeface="Times New Roman"/>
              <a:sym typeface="Calibri"/>
            </a:endParaRPr>
          </a:p>
          <a:p>
            <a:pPr marL="457200" lvl="0" indent="-336550" algn="just">
              <a:lnSpc>
                <a:spcPct val="130000"/>
              </a:lnSpc>
              <a:spcBef>
                <a:spcPts val="360"/>
              </a:spcBef>
              <a:buClr>
                <a:schemeClr val="dk1"/>
              </a:buClr>
              <a:buSzPct val="100000"/>
              <a:buFont typeface="Noto Sans Symbols"/>
              <a:buChar char="✔"/>
            </a:pPr>
            <a:r>
              <a:rPr lang="en-US" sz="2000" b="1" dirty="0">
                <a:solidFill>
                  <a:schemeClr val="dk1"/>
                </a:solidFill>
                <a:latin typeface="Times New Roman"/>
                <a:ea typeface="Calibri"/>
                <a:cs typeface="Times New Roman"/>
                <a:sym typeface="Calibri"/>
              </a:rPr>
              <a:t>Limitations and Challenges: </a:t>
            </a:r>
            <a:r>
              <a:rPr lang="en-US" sz="2000" dirty="0">
                <a:solidFill>
                  <a:schemeClr val="dk1"/>
                </a:solidFill>
                <a:latin typeface="Times New Roman"/>
                <a:ea typeface="Calibri"/>
                <a:cs typeface="Times New Roman"/>
                <a:sym typeface="Calibri"/>
              </a:rPr>
              <a:t>Environmental factors like lighting and background noise affected gesture recognition accuracy. </a:t>
            </a:r>
            <a:endParaRPr sz="2000" dirty="0">
              <a:solidFill>
                <a:schemeClr val="dk1"/>
              </a:solidFill>
              <a:latin typeface="Times New Roman"/>
              <a:ea typeface="Calibri"/>
              <a:cs typeface="Times New Roman"/>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5"/>
          <p:cNvSpPr txBox="1">
            <a:spLocks noGrp="1"/>
          </p:cNvSpPr>
          <p:nvPr>
            <p:ph type="title"/>
          </p:nvPr>
        </p:nvSpPr>
        <p:spPr>
          <a:xfrm>
            <a:off x="216310" y="146357"/>
            <a:ext cx="8927690" cy="824538"/>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Output</a:t>
            </a:r>
            <a:br>
              <a:rPr lang="en-US" sz="3600"/>
            </a:br>
            <a:endParaRPr sz="3600"/>
          </a:p>
        </p:txBody>
      </p:sp>
      <p:sp>
        <p:nvSpPr>
          <p:cNvPr id="138" name="Google Shape;13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a:p>
            <a:pPr marL="0" lvl="0" indent="0" algn="l" rtl="0">
              <a:lnSpc>
                <a:spcPct val="100000"/>
              </a:lnSpc>
              <a:spcBef>
                <a:spcPts val="0"/>
              </a:spcBef>
              <a:spcAft>
                <a:spcPts val="0"/>
              </a:spcAft>
              <a:buSzPts val="1400"/>
              <a:buNone/>
            </a:pPr>
            <a:endParaRPr dirty="0"/>
          </a:p>
        </p:txBody>
      </p:sp>
      <p:sp>
        <p:nvSpPr>
          <p:cNvPr id="139" name="Google Shape;13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140" name="Google Shape;14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141" name="Google Shape;141;p15"/>
          <p:cNvSpPr txBox="1"/>
          <p:nvPr/>
        </p:nvSpPr>
        <p:spPr>
          <a:xfrm>
            <a:off x="1295400" y="970895"/>
            <a:ext cx="457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2" name="Google Shape;142;p15"/>
          <p:cNvSpPr txBox="1"/>
          <p:nvPr/>
        </p:nvSpPr>
        <p:spPr>
          <a:xfrm>
            <a:off x="2788920" y="1110734"/>
            <a:ext cx="67056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43" name="Google Shape;143;p15" descr="A drawing of a hand&#10;&#10;AI-generated content may be incorrect."/>
          <p:cNvPicPr preferRelativeResize="0"/>
          <p:nvPr/>
        </p:nvPicPr>
        <p:blipFill rotWithShape="1">
          <a:blip r:embed="rId3">
            <a:alphaModFix/>
          </a:blip>
          <a:srcRect/>
          <a:stretch/>
        </p:blipFill>
        <p:spPr>
          <a:xfrm>
            <a:off x="478785" y="1155561"/>
            <a:ext cx="4620270" cy="2543530"/>
          </a:xfrm>
          <a:prstGeom prst="rect">
            <a:avLst/>
          </a:prstGeom>
          <a:noFill/>
          <a:ln>
            <a:noFill/>
          </a:ln>
        </p:spPr>
      </p:pic>
      <p:pic>
        <p:nvPicPr>
          <p:cNvPr id="144" name="Google Shape;144;p15" descr="A screenshot of a computer&#10;&#10;AI-generated content may be incorrect."/>
          <p:cNvPicPr preferRelativeResize="0"/>
          <p:nvPr/>
        </p:nvPicPr>
        <p:blipFill rotWithShape="1">
          <a:blip r:embed="rId4">
            <a:alphaModFix/>
          </a:blip>
          <a:srcRect/>
          <a:stretch/>
        </p:blipFill>
        <p:spPr>
          <a:xfrm>
            <a:off x="3854968" y="3699091"/>
            <a:ext cx="4536864" cy="254353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6"/>
          <p:cNvSpPr txBox="1">
            <a:spLocks noGrp="1"/>
          </p:cNvSpPr>
          <p:nvPr>
            <p:ph type="title"/>
          </p:nvPr>
        </p:nvSpPr>
        <p:spPr>
          <a:xfrm>
            <a:off x="457200" y="223838"/>
            <a:ext cx="82296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600"/>
              <a:buFont typeface="Calibri"/>
              <a:buNone/>
            </a:pPr>
            <a:r>
              <a:rPr lang="en-US" sz="3600">
                <a:latin typeface="Times New Roman"/>
                <a:ea typeface="Times New Roman"/>
                <a:cs typeface="Times New Roman"/>
                <a:sym typeface="Times New Roman"/>
              </a:rPr>
              <a:t>Output</a:t>
            </a:r>
            <a:endParaRPr sz="3600">
              <a:latin typeface="Times New Roman"/>
              <a:ea typeface="Times New Roman"/>
              <a:cs typeface="Times New Roman"/>
              <a:sym typeface="Times New Roman"/>
            </a:endParaRPr>
          </a:p>
        </p:txBody>
      </p:sp>
      <p:sp>
        <p:nvSpPr>
          <p:cNvPr id="150" name="Google Shape;150;p16"/>
          <p:cNvSpPr txBox="1">
            <a:spLocks noGrp="1"/>
          </p:cNvSpPr>
          <p:nvPr>
            <p:ph type="body" idx="1"/>
          </p:nvPr>
        </p:nvSpPr>
        <p:spPr>
          <a:xfrm>
            <a:off x="457200" y="1188953"/>
            <a:ext cx="8229600" cy="5158829"/>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800"/>
              <a:buNone/>
            </a:pPr>
            <a:endParaRPr sz="1400" dirty="0">
              <a:solidFill>
                <a:srgbClr val="0C0C0C"/>
              </a:solidFill>
              <a:latin typeface="Times New Roman"/>
              <a:ea typeface="Times New Roman"/>
              <a:cs typeface="Times New Roman"/>
              <a:sym typeface="Times New Roman"/>
            </a:endParaRPr>
          </a:p>
        </p:txBody>
      </p:sp>
      <p:sp>
        <p:nvSpPr>
          <p:cNvPr id="151" name="Google Shape;1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152" name="Google Shape;1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153" name="Google Shape;1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54" name="Google Shape;154;p16" descr="A screenshot of a computer screen&#10;&#10;AI-generated content may be incorrect."/>
          <p:cNvPicPr preferRelativeResize="0"/>
          <p:nvPr/>
        </p:nvPicPr>
        <p:blipFill rotWithShape="1">
          <a:blip r:embed="rId3">
            <a:alphaModFix/>
          </a:blip>
          <a:srcRect/>
          <a:stretch/>
        </p:blipFill>
        <p:spPr>
          <a:xfrm>
            <a:off x="1908106" y="1229229"/>
            <a:ext cx="4502528" cy="2516592"/>
          </a:xfrm>
          <a:prstGeom prst="rect">
            <a:avLst/>
          </a:prstGeom>
          <a:noFill/>
          <a:ln>
            <a:noFill/>
          </a:ln>
        </p:spPr>
      </p:pic>
      <p:pic>
        <p:nvPicPr>
          <p:cNvPr id="155" name="Google Shape;155;p16" descr="A hand with fingers raised&#10;&#10;AI-generated content may be incorrect."/>
          <p:cNvPicPr preferRelativeResize="0"/>
          <p:nvPr/>
        </p:nvPicPr>
        <p:blipFill rotWithShape="1">
          <a:blip r:embed="rId4">
            <a:alphaModFix/>
          </a:blip>
          <a:srcRect/>
          <a:stretch/>
        </p:blipFill>
        <p:spPr>
          <a:xfrm>
            <a:off x="612705" y="3862908"/>
            <a:ext cx="2353004" cy="2338714"/>
          </a:xfrm>
          <a:prstGeom prst="rect">
            <a:avLst/>
          </a:prstGeom>
          <a:noFill/>
          <a:ln>
            <a:noFill/>
          </a:ln>
        </p:spPr>
      </p:pic>
      <p:pic>
        <p:nvPicPr>
          <p:cNvPr id="156" name="Google Shape;156;p16" descr="A hand with points on the palm&#10;&#10;AI-generated content may be incorrect."/>
          <p:cNvPicPr preferRelativeResize="0"/>
          <p:nvPr/>
        </p:nvPicPr>
        <p:blipFill rotWithShape="1">
          <a:blip r:embed="rId5">
            <a:alphaModFix/>
          </a:blip>
          <a:srcRect/>
          <a:stretch/>
        </p:blipFill>
        <p:spPr>
          <a:xfrm>
            <a:off x="3388324" y="3889265"/>
            <a:ext cx="2367351" cy="2338714"/>
          </a:xfrm>
          <a:prstGeom prst="rect">
            <a:avLst/>
          </a:prstGeom>
          <a:noFill/>
          <a:ln>
            <a:noFill/>
          </a:ln>
        </p:spPr>
      </p:pic>
      <p:pic>
        <p:nvPicPr>
          <p:cNvPr id="157" name="Google Shape;157;p16" descr="A green hand with red dots&#10;&#10;AI-generated content may be incorrect."/>
          <p:cNvPicPr preferRelativeResize="0"/>
          <p:nvPr/>
        </p:nvPicPr>
        <p:blipFill rotWithShape="1">
          <a:blip r:embed="rId6">
            <a:alphaModFix/>
          </a:blip>
          <a:srcRect/>
          <a:stretch/>
        </p:blipFill>
        <p:spPr>
          <a:xfrm>
            <a:off x="5904855" y="3784815"/>
            <a:ext cx="2531513" cy="2494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7"/>
          <p:cNvSpPr txBox="1">
            <a:spLocks noGrp="1"/>
          </p:cNvSpPr>
          <p:nvPr>
            <p:ph type="title"/>
          </p:nvPr>
        </p:nvSpPr>
        <p:spPr>
          <a:xfrm>
            <a:off x="1081548" y="274638"/>
            <a:ext cx="8062452"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US" sz="3600">
                <a:latin typeface="Times New Roman"/>
                <a:ea typeface="Times New Roman"/>
                <a:cs typeface="Times New Roman"/>
                <a:sym typeface="Times New Roman"/>
              </a:rPr>
              <a:t>Future Work and Conclusion</a:t>
            </a:r>
            <a:endParaRPr sz="3600"/>
          </a:p>
        </p:txBody>
      </p:sp>
      <p:sp>
        <p:nvSpPr>
          <p:cNvPr id="163" name="Google Shape;163;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164" name="Google Shape;164;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165" name="Google Shape;165;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166" name="Google Shape;166;p17"/>
          <p:cNvSpPr txBox="1">
            <a:spLocks noGrp="1"/>
          </p:cNvSpPr>
          <p:nvPr>
            <p:ph type="body" idx="1"/>
          </p:nvPr>
        </p:nvSpPr>
        <p:spPr>
          <a:xfrm>
            <a:off x="334297" y="980433"/>
            <a:ext cx="8254180" cy="5741041"/>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200" u="sng" dirty="0">
                <a:latin typeface="Times New Roman" panose="02020603050405020304" pitchFamily="18" charset="0"/>
                <a:cs typeface="Times New Roman" panose="02020603050405020304" pitchFamily="18" charset="0"/>
              </a:rPr>
              <a:t>Future Works:</a:t>
            </a:r>
            <a:endParaRPr sz="2200" dirty="0">
              <a:latin typeface="Times New Roman" panose="02020603050405020304" pitchFamily="18" charset="0"/>
              <a:cs typeface="Times New Roman" panose="02020603050405020304" pitchFamily="18" charset="0"/>
            </a:endParaRPr>
          </a:p>
          <a:p>
            <a:pPr marL="457200" lvl="0" indent="-342900" algn="just" rtl="0">
              <a:lnSpc>
                <a:spcPct val="100000"/>
              </a:lnSpc>
              <a:spcBef>
                <a:spcPts val="360"/>
              </a:spcBef>
              <a:spcAft>
                <a:spcPts val="0"/>
              </a:spcAft>
              <a:buClr>
                <a:schemeClr val="dk1"/>
              </a:buClr>
              <a:buSzPts val="1800"/>
              <a:buChar char="•"/>
            </a:pPr>
            <a:r>
              <a:rPr lang="en-US" sz="2000" b="1" dirty="0">
                <a:solidFill>
                  <a:srgbClr val="0C0C0C"/>
                </a:solidFill>
                <a:latin typeface="Times New Roman" panose="02020603050405020304" pitchFamily="18" charset="0"/>
                <a:cs typeface="Times New Roman" panose="02020603050405020304" pitchFamily="18" charset="0"/>
              </a:rPr>
              <a:t>Enhanced Gesture Recognition:</a:t>
            </a:r>
            <a:r>
              <a:rPr lang="en-US" sz="2000" dirty="0">
                <a:solidFill>
                  <a:srgbClr val="0C0C0C"/>
                </a:solidFill>
                <a:latin typeface="Times New Roman" panose="02020603050405020304" pitchFamily="18" charset="0"/>
                <a:cs typeface="Times New Roman" panose="02020603050405020304" pitchFamily="18" charset="0"/>
              </a:rPr>
              <a:t> Improving accuracy using advanced ML models and deep learning algorithms, enables more complex gestures to be accurately interpreted.</a:t>
            </a:r>
            <a:endParaRPr sz="2000" dirty="0">
              <a:solidFill>
                <a:srgbClr val="0C0C0C"/>
              </a:solidFill>
              <a:latin typeface="Times New Roman" panose="02020603050405020304" pitchFamily="18" charset="0"/>
              <a:cs typeface="Times New Roman" panose="02020603050405020304" pitchFamily="18" charset="0"/>
            </a:endParaRPr>
          </a:p>
          <a:p>
            <a:pPr marL="457200" lvl="0" indent="-342900" algn="just" rtl="0">
              <a:lnSpc>
                <a:spcPct val="100000"/>
              </a:lnSpc>
              <a:spcBef>
                <a:spcPts val="360"/>
              </a:spcBef>
              <a:spcAft>
                <a:spcPts val="0"/>
              </a:spcAft>
              <a:buClr>
                <a:schemeClr val="dk1"/>
              </a:buClr>
              <a:buSzPts val="1800"/>
              <a:buChar char="•"/>
            </a:pPr>
            <a:r>
              <a:rPr lang="en-US" sz="2000" b="1" dirty="0">
                <a:solidFill>
                  <a:srgbClr val="0C0C0C"/>
                </a:solidFill>
                <a:latin typeface="Times New Roman" panose="02020603050405020304" pitchFamily="18" charset="0"/>
                <a:cs typeface="Times New Roman" panose="02020603050405020304" pitchFamily="18" charset="0"/>
              </a:rPr>
              <a:t>Expanded Gesture Library: </a:t>
            </a:r>
            <a:r>
              <a:rPr lang="en-US" sz="2000" dirty="0">
                <a:solidFill>
                  <a:srgbClr val="0C0C0C"/>
                </a:solidFill>
                <a:latin typeface="Times New Roman" panose="02020603050405020304" pitchFamily="18" charset="0"/>
                <a:cs typeface="Times New Roman" panose="02020603050405020304" pitchFamily="18" charset="0"/>
              </a:rPr>
              <a:t>Increasing sign language gestures </a:t>
            </a:r>
            <a:r>
              <a:rPr lang="en-US" sz="2000" dirty="0" err="1">
                <a:solidFill>
                  <a:srgbClr val="0C0C0C"/>
                </a:solidFill>
                <a:latin typeface="Times New Roman" panose="02020603050405020304" pitchFamily="18" charset="0"/>
                <a:cs typeface="Times New Roman" panose="02020603050405020304" pitchFamily="18" charset="0"/>
              </a:rPr>
              <a:t>varities</a:t>
            </a:r>
            <a:r>
              <a:rPr lang="en-US" sz="2000" dirty="0">
                <a:solidFill>
                  <a:srgbClr val="0C0C0C"/>
                </a:solidFill>
                <a:latin typeface="Times New Roman" panose="02020603050405020304" pitchFamily="18" charset="0"/>
                <a:cs typeface="Times New Roman" panose="02020603050405020304" pitchFamily="18" charset="0"/>
              </a:rPr>
              <a:t> and incorporating regional or global sign languages makes system more versatile and accessible to a wider audience.</a:t>
            </a:r>
            <a:endParaRPr sz="2000" dirty="0">
              <a:solidFill>
                <a:srgbClr val="0C0C0C"/>
              </a:solidFill>
              <a:latin typeface="Times New Roman" panose="02020603050405020304" pitchFamily="18" charset="0"/>
              <a:cs typeface="Times New Roman" panose="02020603050405020304" pitchFamily="18" charset="0"/>
            </a:endParaRPr>
          </a:p>
          <a:p>
            <a:pPr marL="457200" lvl="0" indent="-342900" algn="just" rtl="0">
              <a:lnSpc>
                <a:spcPct val="100000"/>
              </a:lnSpc>
              <a:spcBef>
                <a:spcPts val="360"/>
              </a:spcBef>
              <a:spcAft>
                <a:spcPts val="0"/>
              </a:spcAft>
              <a:buClr>
                <a:schemeClr val="dk1"/>
              </a:buClr>
              <a:buSzPts val="1800"/>
              <a:buChar char="•"/>
            </a:pPr>
            <a:r>
              <a:rPr lang="en-US" sz="2000" b="1" dirty="0">
                <a:solidFill>
                  <a:srgbClr val="0C0C0C"/>
                </a:solidFill>
                <a:latin typeface="Times New Roman" panose="02020603050405020304" pitchFamily="18" charset="0"/>
                <a:cs typeface="Times New Roman" panose="02020603050405020304" pitchFamily="18" charset="0"/>
              </a:rPr>
              <a:t>Real-Time Integration with Applications:</a:t>
            </a:r>
            <a:r>
              <a:rPr lang="en-US" sz="2000" dirty="0">
                <a:solidFill>
                  <a:srgbClr val="0C0C0C"/>
                </a:solidFill>
                <a:latin typeface="Times New Roman" panose="02020603050405020304" pitchFamily="18" charset="0"/>
                <a:cs typeface="Times New Roman" panose="02020603050405020304" pitchFamily="18" charset="0"/>
              </a:rPr>
              <a:t> Integrating the system with real-time applications, such as virtual classrooms or video conferencing platforms, enhances communication for the deaf community.</a:t>
            </a:r>
          </a:p>
          <a:p>
            <a:pPr marL="114300" lvl="0" indent="0" algn="just" rtl="0">
              <a:lnSpc>
                <a:spcPct val="100000"/>
              </a:lnSpc>
              <a:spcBef>
                <a:spcPts val="360"/>
              </a:spcBef>
              <a:spcAft>
                <a:spcPts val="0"/>
              </a:spcAft>
              <a:buClr>
                <a:schemeClr val="dk1"/>
              </a:buClr>
              <a:buSzPts val="1800"/>
              <a:buNone/>
            </a:pPr>
            <a:r>
              <a:rPr lang="en-US" sz="2200" u="sng" dirty="0">
                <a:latin typeface="Times New Roman" panose="02020603050405020304" pitchFamily="18" charset="0"/>
                <a:cs typeface="Times New Roman" panose="02020603050405020304" pitchFamily="18" charset="0"/>
              </a:rPr>
              <a:t>Conclusion:</a:t>
            </a:r>
            <a:endParaRPr sz="2200" dirty="0">
              <a:latin typeface="Times New Roman" panose="02020603050405020304" pitchFamily="18" charset="0"/>
              <a:cs typeface="Times New Roman" panose="02020603050405020304" pitchFamily="18" charset="0"/>
            </a:endParaRPr>
          </a:p>
          <a:p>
            <a:pPr marL="114300" lvl="0" indent="0" algn="just" rtl="0">
              <a:lnSpc>
                <a:spcPct val="100000"/>
              </a:lnSpc>
              <a:spcBef>
                <a:spcPts val="360"/>
              </a:spcBef>
              <a:spcAft>
                <a:spcPts val="0"/>
              </a:spcAft>
              <a:buSzPts val="1800"/>
              <a:buNone/>
            </a:pPr>
            <a:r>
              <a:rPr lang="en-US" sz="2000" dirty="0">
                <a:solidFill>
                  <a:srgbClr val="0C0C0C"/>
                </a:solidFill>
                <a:latin typeface="Times New Roman" panose="02020603050405020304" pitchFamily="18" charset="0"/>
                <a:cs typeface="Times New Roman" panose="02020603050405020304" pitchFamily="18" charset="0"/>
              </a:rPr>
              <a:t>The "</a:t>
            </a:r>
            <a:r>
              <a:rPr lang="en-US" sz="2000" dirty="0" err="1">
                <a:solidFill>
                  <a:srgbClr val="0C0C0C"/>
                </a:solidFill>
                <a:latin typeface="Times New Roman" panose="02020603050405020304" pitchFamily="18" charset="0"/>
                <a:cs typeface="Times New Roman" panose="02020603050405020304" pitchFamily="18" charset="0"/>
              </a:rPr>
              <a:t>IncludeEd</a:t>
            </a:r>
            <a:r>
              <a:rPr lang="en-US" sz="2000" dirty="0">
                <a:solidFill>
                  <a:srgbClr val="0C0C0C"/>
                </a:solidFill>
                <a:latin typeface="Times New Roman" panose="02020603050405020304" pitchFamily="18" charset="0"/>
                <a:cs typeface="Times New Roman" panose="02020603050405020304" pitchFamily="18" charset="0"/>
              </a:rPr>
              <a:t>" project creates an interactive platform for individuals with hearing impairments by translating hand gestures into visual representations. It highlights the potential of combining sign language with technology for greater accessibility. Enhancements in gesture detection can broaden its applications and help break communication barriers.</a:t>
            </a:r>
            <a:endParaRPr lang="en-US" sz="2000" dirty="0">
              <a:solidFill>
                <a:srgbClr val="0C0C0C"/>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8"/>
          <p:cNvSpPr txBox="1">
            <a:spLocks noGrp="1"/>
          </p:cNvSpPr>
          <p:nvPr>
            <p:ph type="title"/>
          </p:nvPr>
        </p:nvSpPr>
        <p:spPr>
          <a:xfrm>
            <a:off x="533400" y="136525"/>
            <a:ext cx="82296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Times New Roman"/>
              <a:buNone/>
            </a:pPr>
            <a:r>
              <a:rPr lang="en-US" sz="3600">
                <a:latin typeface="Times New Roman"/>
                <a:ea typeface="Times New Roman"/>
                <a:cs typeface="Times New Roman"/>
                <a:sym typeface="Times New Roman"/>
              </a:rPr>
              <a:t>References</a:t>
            </a:r>
            <a:endParaRPr sz="3600"/>
          </a:p>
        </p:txBody>
      </p:sp>
      <p:sp>
        <p:nvSpPr>
          <p:cNvPr id="172" name="Google Shape;172;p18"/>
          <p:cNvSpPr txBox="1"/>
          <p:nvPr/>
        </p:nvSpPr>
        <p:spPr>
          <a:xfrm>
            <a:off x="685800" y="1981200"/>
            <a:ext cx="8077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3" name="Google Shape;173;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28-Apr-25</a:t>
            </a:r>
            <a:endParaRPr dirty="0"/>
          </a:p>
        </p:txBody>
      </p:sp>
      <p:sp>
        <p:nvSpPr>
          <p:cNvPr id="174" name="Google Shape;17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175" name="Google Shape;17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Computer Science and Engineering</a:t>
            </a:r>
            <a:endParaRPr/>
          </a:p>
        </p:txBody>
      </p:sp>
      <p:sp>
        <p:nvSpPr>
          <p:cNvPr id="176" name="Google Shape;176;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None/>
            </a:pPr>
            <a:endParaRPr sz="2400" dirty="0"/>
          </a:p>
          <a:p>
            <a:pPr marL="457200" lvl="0" indent="-457200" algn="just" rtl="0">
              <a:lnSpc>
                <a:spcPct val="100000"/>
              </a:lnSpc>
              <a:spcBef>
                <a:spcPts val="480"/>
              </a:spcBef>
              <a:spcAft>
                <a:spcPts val="0"/>
              </a:spcAft>
              <a:buClr>
                <a:schemeClr val="dk1"/>
              </a:buClr>
              <a:buSzPts val="2400"/>
              <a:buAutoNum type="arabicParenR"/>
            </a:pPr>
            <a:r>
              <a:rPr lang="en-US" sz="2400" b="1" u="sng" dirty="0">
                <a:solidFill>
                  <a:schemeClr val="hlink"/>
                </a:solidFill>
                <a:latin typeface="Times New Roman"/>
                <a:ea typeface="Times New Roman"/>
                <a:cs typeface="Times New Roman"/>
                <a:sym typeface="Times New Roman"/>
                <a:hlinkClick r:id="rId3"/>
              </a:rPr>
              <a:t>https://doi.org/10.1007/s10462-012-9356-9</a:t>
            </a:r>
            <a:endParaRPr sz="2400" b="1" u="sng" dirty="0">
              <a:solidFill>
                <a:srgbClr val="376092"/>
              </a:solidFill>
              <a:latin typeface="Times New Roman"/>
              <a:ea typeface="Times New Roman"/>
              <a:cs typeface="Times New Roman"/>
              <a:sym typeface="Times New Roman"/>
            </a:endParaRPr>
          </a:p>
          <a:p>
            <a:pPr marL="457200" lvl="0" indent="-457200" algn="just" rtl="0">
              <a:lnSpc>
                <a:spcPct val="100000"/>
              </a:lnSpc>
              <a:spcBef>
                <a:spcPts val="480"/>
              </a:spcBef>
              <a:spcAft>
                <a:spcPts val="0"/>
              </a:spcAft>
              <a:buClr>
                <a:schemeClr val="dk1"/>
              </a:buClr>
              <a:buSzPts val="2400"/>
              <a:buAutoNum type="arabicParenR"/>
            </a:pPr>
            <a:r>
              <a:rPr lang="en-US" sz="2400" b="1" u="sng" dirty="0">
                <a:solidFill>
                  <a:schemeClr val="hlink"/>
                </a:solidFill>
                <a:latin typeface="Times New Roman"/>
                <a:ea typeface="Times New Roman"/>
                <a:cs typeface="Times New Roman"/>
                <a:sym typeface="Times New Roman"/>
                <a:hlinkClick r:id="rId4"/>
              </a:rPr>
              <a:t>https://doi.org/10.1109/TSMCC.2007.893280</a:t>
            </a:r>
            <a:endParaRPr sz="2400" b="1" u="sng" dirty="0">
              <a:solidFill>
                <a:srgbClr val="376092"/>
              </a:solidFill>
              <a:latin typeface="Times New Roman"/>
              <a:ea typeface="Times New Roman"/>
              <a:cs typeface="Times New Roman"/>
              <a:sym typeface="Times New Roman"/>
            </a:endParaRPr>
          </a:p>
          <a:p>
            <a:pPr marL="457200" lvl="0" indent="-457200" algn="just" rtl="0">
              <a:lnSpc>
                <a:spcPct val="100000"/>
              </a:lnSpc>
              <a:spcBef>
                <a:spcPts val="480"/>
              </a:spcBef>
              <a:spcAft>
                <a:spcPts val="0"/>
              </a:spcAft>
              <a:buClr>
                <a:schemeClr val="dk1"/>
              </a:buClr>
              <a:buSzPts val="2400"/>
              <a:buAutoNum type="arabicParenR"/>
            </a:pPr>
            <a:r>
              <a:rPr lang="en-US" sz="2400" b="1" u="sng" dirty="0">
                <a:solidFill>
                  <a:schemeClr val="hlink"/>
                </a:solidFill>
                <a:latin typeface="Times New Roman"/>
                <a:ea typeface="Times New Roman"/>
                <a:cs typeface="Times New Roman"/>
                <a:sym typeface="Times New Roman"/>
                <a:hlinkClick r:id="rId5"/>
              </a:rPr>
              <a:t>https://www.ijecs.in/index.php/ijecs/article/view/2259</a:t>
            </a:r>
            <a:endParaRPr sz="2400" b="1" u="sng" dirty="0">
              <a:solidFill>
                <a:srgbClr val="376092"/>
              </a:solidFill>
              <a:latin typeface="Times New Roman"/>
              <a:ea typeface="Times New Roman"/>
              <a:cs typeface="Times New Roman"/>
              <a:sym typeface="Times New Roman"/>
            </a:endParaRPr>
          </a:p>
          <a:p>
            <a:pPr marL="457200" lvl="0" indent="-457200" algn="just" rtl="0">
              <a:lnSpc>
                <a:spcPct val="100000"/>
              </a:lnSpc>
              <a:spcBef>
                <a:spcPts val="480"/>
              </a:spcBef>
              <a:spcAft>
                <a:spcPts val="0"/>
              </a:spcAft>
              <a:buClr>
                <a:schemeClr val="dk1"/>
              </a:buClr>
              <a:buSzPts val="2400"/>
              <a:buAutoNum type="arabicParenR"/>
            </a:pPr>
            <a:r>
              <a:rPr lang="en-US" sz="2400" b="1" u="sng" dirty="0">
                <a:solidFill>
                  <a:schemeClr val="hlink"/>
                </a:solidFill>
                <a:latin typeface="Times New Roman"/>
                <a:ea typeface="Times New Roman"/>
                <a:cs typeface="Times New Roman"/>
                <a:sym typeface="Times New Roman"/>
                <a:hlinkClick r:id="rId6"/>
              </a:rPr>
              <a:t>https://doi.org/10.1145/2070481.2070532</a:t>
            </a:r>
            <a:endParaRPr sz="2400" b="1" u="sng" dirty="0">
              <a:solidFill>
                <a:srgbClr val="376092"/>
              </a:solidFill>
              <a:latin typeface="Times New Roman"/>
              <a:ea typeface="Times New Roman"/>
              <a:cs typeface="Times New Roman"/>
              <a:sym typeface="Times New Roman"/>
            </a:endParaRPr>
          </a:p>
          <a:p>
            <a:pPr marL="457200" lvl="0" indent="-457200" algn="just" rtl="0">
              <a:lnSpc>
                <a:spcPct val="100000"/>
              </a:lnSpc>
              <a:spcBef>
                <a:spcPts val="480"/>
              </a:spcBef>
              <a:spcAft>
                <a:spcPts val="0"/>
              </a:spcAft>
              <a:buClr>
                <a:schemeClr val="dk1"/>
              </a:buClr>
              <a:buSzPts val="2400"/>
              <a:buAutoNum type="arabicParenR"/>
            </a:pPr>
            <a:r>
              <a:rPr lang="en-US" sz="2400" b="1" u="sng" dirty="0">
                <a:solidFill>
                  <a:schemeClr val="hlink"/>
                </a:solidFill>
                <a:latin typeface="Times New Roman"/>
                <a:ea typeface="Times New Roman"/>
                <a:cs typeface="Times New Roman"/>
                <a:sym typeface="Times New Roman"/>
                <a:hlinkClick r:id="rId7"/>
              </a:rPr>
              <a:t>https://doi.org/10.1145/1897816.1897838</a:t>
            </a:r>
            <a:endParaRPr sz="2400" b="1" u="sng" dirty="0">
              <a:solidFill>
                <a:srgbClr val="376092"/>
              </a:solidFill>
              <a:latin typeface="Times New Roman"/>
              <a:ea typeface="Times New Roman"/>
              <a:cs typeface="Times New Roman"/>
              <a:sym typeface="Times New Roman"/>
            </a:endParaRPr>
          </a:p>
          <a:p>
            <a:pPr marL="0" lvl="0" indent="0" algn="l" rtl="0">
              <a:lnSpc>
                <a:spcPct val="100000"/>
              </a:lnSpc>
              <a:spcBef>
                <a:spcPts val="480"/>
              </a:spcBef>
              <a:spcAft>
                <a:spcPts val="0"/>
              </a:spcAft>
              <a:buClr>
                <a:schemeClr val="dk1"/>
              </a:buClr>
              <a:buSzPts val="2400"/>
              <a:buNone/>
            </a:pPr>
            <a:endParaRPr sz="2400" b="1" u="sng" dirty="0">
              <a:solidFill>
                <a:srgbClr val="37609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Velammal">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TotalTime>
  <Words>1444</Words>
  <Application>Microsoft Office PowerPoint</Application>
  <PresentationFormat>On-screen Show (4:3)</PresentationFormat>
  <Paragraphs>163</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Noto Sans Symbols</vt:lpstr>
      <vt:lpstr>Times New Roman</vt:lpstr>
      <vt:lpstr>Wingdings</vt:lpstr>
      <vt:lpstr>Velammal</vt:lpstr>
      <vt:lpstr>IncludeEd- INTEGRATING SIGN LANGUAGE AND VISUAL AIDS</vt:lpstr>
      <vt:lpstr>Abstract</vt:lpstr>
      <vt:lpstr>Problem Statement</vt:lpstr>
      <vt:lpstr>Literature Review (latest year first)</vt:lpstr>
      <vt:lpstr>               EXISTING SYSTEM</vt:lpstr>
      <vt:lpstr>      PROBLEMS IN EXISTING SYSTEM</vt:lpstr>
      <vt:lpstr>PROPOSED SOLUTION</vt:lpstr>
      <vt:lpstr>ARCHITECTURE OF IncludeEd</vt:lpstr>
      <vt:lpstr>         Methodology</vt:lpstr>
      <vt:lpstr>              Module Description</vt:lpstr>
      <vt:lpstr>PowerPoint Presentation</vt:lpstr>
      <vt:lpstr>Output </vt:lpstr>
      <vt:lpstr>Output</vt:lpstr>
      <vt:lpstr>Future Work and 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HARSHITA</dc:creator>
  <cp:lastModifiedBy>Harshita Srinivasan</cp:lastModifiedBy>
  <cp:revision>6</cp:revision>
  <dcterms:modified xsi:type="dcterms:W3CDTF">2025-04-27T10:57:59Z</dcterms:modified>
</cp:coreProperties>
</file>